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/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</a:lstStyle>
          <a:p/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/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/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/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/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/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/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/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/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/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/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/>
          </a:bodyPr>
          <a:lstStyle/>
          <a:p/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/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/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/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/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r>
              <a:rPr/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TextBox 1"/>
          <p:cNvSpPr txBox="1"/>
          <p:nvPr/>
        </p:nvSpPr>
        <p:spPr>
          <a:xfrm>
            <a:off x="444500" y="152400"/>
            <a:ext cx="11303000" cy="41148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2700" b="1">
                <a:solidFill>
                  <a:srgbClr val="0F172A"/>
                </a:solidFill>
                <a:latin typeface="Inter"/>
              </a:rPr>
              <a:t>RAPTOR-SoC Architecture</a:t>
            </a:r>
            <a:endParaRPr sz="2700" b="1">
              <a:solidFill>
                <a:srgbClr val="0F172A"/>
              </a:solidFill>
              <a:latin typeface="Inter"/>
            </a:endParaRPr>
          </a:p>
        </p:txBody>
      </p:sp>
      <p:sp>
        <p:nvSpPr>
          <p:cNvPr id="314" name="TextBox 2"/>
          <p:cNvSpPr txBox="1"/>
          <p:nvPr/>
        </p:nvSpPr>
        <p:spPr>
          <a:xfrm>
            <a:off x="571500" y="609600"/>
            <a:ext cx="11049000" cy="18288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Inter"/>
              </a:rPr>
              <a:t>Dual-clock Phase 5 implementation • cached private memory • uncached shared GPU path</a:t>
            </a:r>
            <a:endParaRPr sz="1200" b="0">
              <a:solidFill>
                <a:srgbClr val="64748B"/>
              </a:solidFill>
              <a:latin typeface="Inter"/>
            </a:endParaRPr>
          </a:p>
        </p:txBody>
      </p:sp>
      <p:sp>
        <p:nvSpPr>
          <p:cNvPr id="315" name="Rectangle 3"/>
          <p:cNvSpPr/>
          <p:nvPr/>
        </p:nvSpPr>
        <p:spPr>
          <a:xfrm>
            <a:off x="355600" y="1041400"/>
            <a:ext cx="7035800" cy="5207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6" name="Rectangle 4"/>
          <p:cNvSpPr/>
          <p:nvPr/>
        </p:nvSpPr>
        <p:spPr>
          <a:xfrm>
            <a:off x="8686800" y="1041400"/>
            <a:ext cx="3149600" cy="5207000"/>
          </a:xfrm>
          <a:prstGeom prst="roundRect">
            <a:avLst/>
          </a:prstGeom>
          <a:solidFill>
            <a:srgbClr val="F7FEE7"/>
          </a:solidFill>
          <a:ln w="15240">
            <a:solidFill>
              <a:srgbClr val="BBF7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7" name="Rectangle 5"/>
          <p:cNvSpPr/>
          <p:nvPr/>
        </p:nvSpPr>
        <p:spPr>
          <a:xfrm>
            <a:off x="7505700" y="1041400"/>
            <a:ext cx="1066800" cy="5207000"/>
          </a:xfrm>
          <a:prstGeom prst="roundRect">
            <a:avLst/>
          </a:prstGeom>
          <a:solidFill>
            <a:srgbClr val="FAF5FF"/>
          </a:solidFill>
          <a:ln w="15240">
            <a:solidFill>
              <a:srgbClr val="D8B4F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8" name="TextBox 6"/>
          <p:cNvSpPr txBox="1"/>
          <p:nvPr/>
        </p:nvSpPr>
        <p:spPr>
          <a:xfrm>
            <a:off x="736600" y="1219200"/>
            <a:ext cx="3759200" cy="17526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l"/>
            <a:r>
              <a:rPr sz="1150" b="1">
                <a:solidFill>
                  <a:srgbClr val="1D4ED8"/>
                </a:solidFill>
                <a:latin typeface="Inter"/>
              </a:rPr>
              <a:t>CPU / SYSTEM CLOCK DOMAIN</a:t>
            </a:r>
            <a:endParaRPr sz="1150" b="1">
              <a:solidFill>
                <a:srgbClr val="1D4ED8"/>
              </a:solidFill>
              <a:latin typeface="Inter"/>
            </a:endParaRPr>
          </a:p>
        </p:txBody>
      </p:sp>
      <p:sp>
        <p:nvSpPr>
          <p:cNvPr id="319" name="TextBox 7"/>
          <p:cNvSpPr txBox="1"/>
          <p:nvPr/>
        </p:nvSpPr>
        <p:spPr>
          <a:xfrm>
            <a:off x="4572000" y="1219200"/>
            <a:ext cx="1778000" cy="14478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r"/>
            <a:r>
              <a:rPr sz="950" b="1">
                <a:solidFill>
                  <a:srgbClr val="64748B"/>
                </a:solidFill>
                <a:latin typeface="Inter"/>
              </a:rPr>
              <a:t>100 MHz synthesized</a:t>
            </a:r>
            <a:endParaRPr sz="950" b="1">
              <a:solidFill>
                <a:srgbClr val="64748B"/>
              </a:solidFill>
              <a:latin typeface="Inter"/>
            </a:endParaRPr>
          </a:p>
        </p:txBody>
      </p:sp>
      <p:sp>
        <p:nvSpPr>
          <p:cNvPr id="320" name="TextBox 8"/>
          <p:cNvSpPr txBox="1"/>
          <p:nvPr/>
        </p:nvSpPr>
        <p:spPr>
          <a:xfrm>
            <a:off x="8991600" y="1219200"/>
            <a:ext cx="1524000" cy="16002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l"/>
            <a:r>
              <a:rPr sz="1050" b="1">
                <a:solidFill>
                  <a:srgbClr val="15803D"/>
                </a:solidFill>
                <a:latin typeface="Inter"/>
              </a:rPr>
              <a:t>GPU CLOCK DOMAIN</a:t>
            </a:r>
            <a:endParaRPr sz="1050" b="1">
              <a:solidFill>
                <a:srgbClr val="15803D"/>
              </a:solidFill>
              <a:latin typeface="Inter"/>
            </a:endParaRPr>
          </a:p>
        </p:txBody>
      </p:sp>
      <p:sp>
        <p:nvSpPr>
          <p:cNvPr id="321" name="TextBox 9"/>
          <p:cNvSpPr txBox="1"/>
          <p:nvPr/>
        </p:nvSpPr>
        <p:spPr>
          <a:xfrm>
            <a:off x="10591800" y="1219200"/>
            <a:ext cx="609600" cy="14478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r"/>
            <a:r>
              <a:rPr sz="950" b="1">
                <a:solidFill>
                  <a:srgbClr val="64748B"/>
                </a:solidFill>
                <a:latin typeface="Inter"/>
              </a:rPr>
              <a:t>50 MHz</a:t>
            </a:r>
            <a:endParaRPr sz="950" b="1">
              <a:solidFill>
                <a:srgbClr val="64748B"/>
              </a:solidFill>
              <a:latin typeface="Inter"/>
            </a:endParaRPr>
          </a:p>
        </p:txBody>
      </p:sp>
      <p:sp>
        <p:nvSpPr>
          <p:cNvPr id="322" name="TextBox 10"/>
          <p:cNvSpPr txBox="1"/>
          <p:nvPr/>
        </p:nvSpPr>
        <p:spPr>
          <a:xfrm>
            <a:off x="7581900" y="1219200"/>
            <a:ext cx="914400" cy="17526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1150" b="1">
                <a:solidFill>
                  <a:srgbClr val="7E22CE"/>
                </a:solidFill>
                <a:latin typeface="Inter"/>
              </a:rPr>
              <a:t>CDC</a:t>
            </a:r>
            <a:endParaRPr sz="1150" b="1">
              <a:solidFill>
                <a:srgbClr val="7E22CE"/>
              </a:solidFill>
              <a:latin typeface="Inter"/>
            </a:endParaRPr>
          </a:p>
        </p:txBody>
      </p:sp>
      <p:sp>
        <p:nvSpPr>
          <p:cNvPr id="323" name="Freeform 323"/>
          <p:cNvSpPr/>
          <p:nvPr/>
        </p:nvSpPr>
        <p:spPr>
          <a:xfrm>
            <a:off x="2717800" y="2260600"/>
            <a:ext cx="482600" cy="12700"/>
          </a:xfrm>
          <a:custGeom>
            <a:avLst/>
            <a:gdLst/>
            <a:ahLst/>
            <a:cxnLst/>
            <a:rect l="l" t="t" r="r" b="b"/>
            <a:pathLst>
              <a:path w="100000" h="2632" fill="none">
                <a:moveTo>
                  <a:pt x="0" y="0"/>
                </a:moveTo>
                <a:lnTo>
                  <a:pt x="100000" y="0"/>
                </a:lnTo>
              </a:path>
            </a:pathLst>
          </a:custGeom>
          <a:ln w="27940" cap="rnd">
            <a:solidFill>
              <a:srgbClr val="2563EB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24" name="Freeform 324"/>
          <p:cNvSpPr/>
          <p:nvPr/>
        </p:nvSpPr>
        <p:spPr>
          <a:xfrm>
            <a:off x="2717800" y="2590800"/>
            <a:ext cx="482600" cy="660400"/>
          </a:xfrm>
          <a:custGeom>
            <a:avLst/>
            <a:gdLst/>
            <a:ahLst/>
            <a:cxnLst/>
            <a:rect l="l" t="t" r="r" b="b"/>
            <a:pathLst>
              <a:path w="73077" h="100000" fill="none">
                <a:moveTo>
                  <a:pt x="0" y="0"/>
                </a:moveTo>
                <a:lnTo>
                  <a:pt x="73077" y="100000"/>
                </a:lnTo>
              </a:path>
            </a:pathLst>
          </a:custGeom>
          <a:ln w="27940" cap="rnd">
            <a:solidFill>
              <a:srgbClr val="2563EB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25" name="Freeform 325"/>
          <p:cNvSpPr/>
          <p:nvPr/>
        </p:nvSpPr>
        <p:spPr>
          <a:xfrm>
            <a:off x="4813300" y="1917700"/>
            <a:ext cx="330200" cy="12700"/>
          </a:xfrm>
          <a:custGeom>
            <a:avLst/>
            <a:gdLst/>
            <a:ahLst/>
            <a:cxnLst/>
            <a:rect l="l" t="t" r="r" b="b"/>
            <a:pathLst>
              <a:path w="100000" h="3846" fill="none">
                <a:moveTo>
                  <a:pt x="0" y="0"/>
                </a:moveTo>
                <a:lnTo>
                  <a:pt x="100000" y="0"/>
                </a:lnTo>
              </a:path>
            </a:pathLst>
          </a:custGeom>
          <a:ln w="27940" cap="rnd">
            <a:solidFill>
              <a:srgbClr val="64748B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26" name="Freeform 326"/>
          <p:cNvSpPr/>
          <p:nvPr/>
        </p:nvSpPr>
        <p:spPr>
          <a:xfrm>
            <a:off x="4813300" y="3251200"/>
            <a:ext cx="330200" cy="12700"/>
          </a:xfrm>
          <a:custGeom>
            <a:avLst/>
            <a:gdLst/>
            <a:ahLst/>
            <a:cxnLst/>
            <a:rect l="l" t="t" r="r" b="b"/>
            <a:pathLst>
              <a:path w="100000" h="3846" fill="none">
                <a:moveTo>
                  <a:pt x="0" y="0"/>
                </a:moveTo>
                <a:lnTo>
                  <a:pt x="100000" y="0"/>
                </a:lnTo>
              </a:path>
            </a:pathLst>
          </a:custGeom>
          <a:ln w="27940" cap="rnd">
            <a:solidFill>
              <a:srgbClr val="2563EB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27" name="Freeform 327"/>
          <p:cNvSpPr/>
          <p:nvPr/>
        </p:nvSpPr>
        <p:spPr>
          <a:xfrm>
            <a:off x="4038600" y="3746500"/>
            <a:ext cx="12700" cy="393700"/>
          </a:xfrm>
          <a:custGeom>
            <a:avLst/>
            <a:gdLst/>
            <a:ahLst/>
            <a:cxnLst/>
            <a:rect l="l" t="t" r="r" b="b"/>
            <a:pathLst>
              <a:path w="3226" h="100000" fill="none">
                <a:moveTo>
                  <a:pt x="0" y="0"/>
                </a:moveTo>
                <a:lnTo>
                  <a:pt x="0" y="100000"/>
                </a:lnTo>
              </a:path>
            </a:pathLst>
          </a:custGeom>
          <a:ln w="27940" cap="rnd">
            <a:solidFill>
              <a:srgbClr val="2563EB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28" name="Freeform 328"/>
          <p:cNvSpPr/>
          <p:nvPr/>
        </p:nvSpPr>
        <p:spPr>
          <a:xfrm>
            <a:off x="4813300" y="4635500"/>
            <a:ext cx="330200" cy="12700"/>
          </a:xfrm>
          <a:custGeom>
            <a:avLst/>
            <a:gdLst/>
            <a:ahLst/>
            <a:cxnLst/>
            <a:rect l="l" t="t" r="r" b="b"/>
            <a:pathLst>
              <a:path w="100000" h="3846" fill="none">
                <a:moveTo>
                  <a:pt x="0" y="0"/>
                </a:moveTo>
                <a:lnTo>
                  <a:pt x="100000" y="0"/>
                </a:lnTo>
              </a:path>
            </a:pathLst>
          </a:custGeom>
          <a:ln w="27940" cap="rnd">
            <a:solidFill>
              <a:srgbClr val="2563EB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29" name="Freeform 329"/>
          <p:cNvSpPr/>
          <p:nvPr/>
        </p:nvSpPr>
        <p:spPr>
          <a:xfrm>
            <a:off x="6032500" y="5143500"/>
            <a:ext cx="12700" cy="254000"/>
          </a:xfrm>
          <a:custGeom>
            <a:avLst/>
            <a:gdLst/>
            <a:ahLst/>
            <a:cxnLst/>
            <a:rect l="l" t="t" r="r" b="b"/>
            <a:pathLst>
              <a:path w="5000" h="100000" fill="none">
                <a:moveTo>
                  <a:pt x="0" y="0"/>
                </a:moveTo>
                <a:lnTo>
                  <a:pt x="0" y="100000"/>
                </a:lnTo>
              </a:path>
            </a:pathLst>
          </a:custGeom>
          <a:ln w="27940" cap="rnd">
            <a:solidFill>
              <a:srgbClr val="2563EB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30" name="Freeform 330"/>
          <p:cNvSpPr/>
          <p:nvPr/>
        </p:nvSpPr>
        <p:spPr>
          <a:xfrm>
            <a:off x="4813300" y="4635500"/>
            <a:ext cx="330200" cy="1155700"/>
          </a:xfrm>
          <a:custGeom>
            <a:avLst/>
            <a:gdLst/>
            <a:ahLst/>
            <a:cxnLst/>
            <a:rect l="l" t="t" r="r" b="b"/>
            <a:pathLst>
              <a:path w="28571" h="100000" fill="none">
                <a:moveTo>
                  <a:pt x="28571" y="0"/>
                </a:moveTo>
                <a:lnTo>
                  <a:pt x="13187" y="0"/>
                </a:lnTo>
                <a:lnTo>
                  <a:pt x="13187" y="100000"/>
                </a:lnTo>
                <a:lnTo>
                  <a:pt x="0" y="100000"/>
                </a:lnTo>
              </a:path>
            </a:pathLst>
          </a:custGeom>
          <a:ln w="27940" cap="rnd">
            <a:solidFill>
              <a:srgbClr val="9333EA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31" name="Freeform 331"/>
          <p:cNvSpPr/>
          <p:nvPr/>
        </p:nvSpPr>
        <p:spPr>
          <a:xfrm>
            <a:off x="6921500" y="2057400"/>
            <a:ext cx="673100" cy="2578100"/>
          </a:xfrm>
          <a:custGeom>
            <a:avLst/>
            <a:gdLst/>
            <a:ahLst/>
            <a:cxnLst/>
            <a:rect l="l" t="t" r="r" b="b"/>
            <a:pathLst>
              <a:path w="26108" h="100000" fill="none">
                <a:moveTo>
                  <a:pt x="0" y="100000"/>
                </a:moveTo>
                <a:lnTo>
                  <a:pt x="9852" y="100000"/>
                </a:lnTo>
                <a:lnTo>
                  <a:pt x="9852" y="0"/>
                </a:lnTo>
                <a:lnTo>
                  <a:pt x="26108" y="0"/>
                </a:lnTo>
              </a:path>
            </a:pathLst>
          </a:custGeom>
          <a:ln w="27940" cap="rnd">
            <a:solidFill>
              <a:srgbClr val="9333EA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32" name="Freeform 332"/>
          <p:cNvSpPr/>
          <p:nvPr/>
        </p:nvSpPr>
        <p:spPr>
          <a:xfrm>
            <a:off x="4813300" y="2781300"/>
            <a:ext cx="2781300" cy="3009900"/>
          </a:xfrm>
          <a:custGeom>
            <a:avLst/>
            <a:gdLst/>
            <a:ahLst/>
            <a:cxnLst/>
            <a:rect l="l" t="t" r="r" b="b"/>
            <a:pathLst>
              <a:path w="92405" h="100000" fill="none">
                <a:moveTo>
                  <a:pt x="92405" y="0"/>
                </a:moveTo>
                <a:lnTo>
                  <a:pt x="75527" y="0"/>
                </a:lnTo>
                <a:lnTo>
                  <a:pt x="75527" y="100000"/>
                </a:lnTo>
                <a:lnTo>
                  <a:pt x="0" y="100000"/>
                </a:lnTo>
              </a:path>
            </a:pathLst>
          </a:custGeom>
          <a:ln w="27940" cap="rnd">
            <a:solidFill>
              <a:srgbClr val="9333EA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33" name="Freeform 333"/>
          <p:cNvSpPr/>
          <p:nvPr/>
        </p:nvSpPr>
        <p:spPr>
          <a:xfrm>
            <a:off x="6921500" y="3492500"/>
            <a:ext cx="673100" cy="2070100"/>
          </a:xfrm>
          <a:custGeom>
            <a:avLst/>
            <a:gdLst/>
            <a:ahLst/>
            <a:cxnLst/>
            <a:rect l="l" t="t" r="r" b="b"/>
            <a:pathLst>
              <a:path w="32515" h="100000" fill="none">
                <a:moveTo>
                  <a:pt x="32515" y="0"/>
                </a:moveTo>
                <a:lnTo>
                  <a:pt x="17791" y="0"/>
                </a:lnTo>
                <a:lnTo>
                  <a:pt x="17791" y="100000"/>
                </a:lnTo>
                <a:lnTo>
                  <a:pt x="0" y="100000"/>
                </a:lnTo>
              </a:path>
            </a:pathLst>
          </a:custGeom>
          <a:ln w="27940" cap="rnd">
            <a:solidFill>
              <a:srgbClr val="16A34A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34" name="Freeform 334"/>
          <p:cNvSpPr/>
          <p:nvPr/>
        </p:nvSpPr>
        <p:spPr>
          <a:xfrm>
            <a:off x="6921500" y="3733800"/>
            <a:ext cx="673100" cy="2209800"/>
          </a:xfrm>
          <a:custGeom>
            <a:avLst/>
            <a:gdLst/>
            <a:ahLst/>
            <a:cxnLst/>
            <a:rect l="l" t="t" r="r" b="b"/>
            <a:pathLst>
              <a:path w="30460" h="100000" fill="none">
                <a:moveTo>
                  <a:pt x="0" y="100000"/>
                </a:moveTo>
                <a:lnTo>
                  <a:pt x="21839" y="100000"/>
                </a:lnTo>
                <a:lnTo>
                  <a:pt x="21839" y="0"/>
                </a:lnTo>
                <a:lnTo>
                  <a:pt x="30460" y="0"/>
                </a:lnTo>
              </a:path>
            </a:pathLst>
          </a:custGeom>
          <a:ln w="27940" cap="rnd">
            <a:solidFill>
              <a:srgbClr val="16A34A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35" name="Freeform 335"/>
          <p:cNvSpPr/>
          <p:nvPr/>
        </p:nvSpPr>
        <p:spPr>
          <a:xfrm>
            <a:off x="8572500" y="2057400"/>
            <a:ext cx="469900" cy="12700"/>
          </a:xfrm>
          <a:custGeom>
            <a:avLst/>
            <a:gdLst/>
            <a:ahLst/>
            <a:cxnLst/>
            <a:rect l="l" t="t" r="r" b="b"/>
            <a:pathLst>
              <a:path w="100000" h="2703" fill="none">
                <a:moveTo>
                  <a:pt x="0" y="0"/>
                </a:moveTo>
                <a:lnTo>
                  <a:pt x="100000" y="0"/>
                </a:lnTo>
              </a:path>
            </a:pathLst>
          </a:custGeom>
          <a:ln w="27940" cap="rnd">
            <a:solidFill>
              <a:srgbClr val="9333EA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36" name="Freeform 336"/>
          <p:cNvSpPr/>
          <p:nvPr/>
        </p:nvSpPr>
        <p:spPr>
          <a:xfrm>
            <a:off x="8572500" y="2590800"/>
            <a:ext cx="469900" cy="12700"/>
          </a:xfrm>
          <a:custGeom>
            <a:avLst/>
            <a:gdLst/>
            <a:ahLst/>
            <a:cxnLst/>
            <a:rect l="l" t="t" r="r" b="b"/>
            <a:pathLst>
              <a:path w="100000" h="2703" fill="none">
                <a:moveTo>
                  <a:pt x="100000" y="0"/>
                </a:moveTo>
                <a:lnTo>
                  <a:pt x="0" y="0"/>
                </a:lnTo>
              </a:path>
            </a:pathLst>
          </a:custGeom>
          <a:ln w="27940" cap="rnd">
            <a:solidFill>
              <a:srgbClr val="9333EA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37" name="Freeform 337"/>
          <p:cNvSpPr/>
          <p:nvPr/>
        </p:nvSpPr>
        <p:spPr>
          <a:xfrm>
            <a:off x="8572500" y="3429000"/>
            <a:ext cx="469900" cy="12700"/>
          </a:xfrm>
          <a:custGeom>
            <a:avLst/>
            <a:gdLst/>
            <a:ahLst/>
            <a:cxnLst/>
            <a:rect l="l" t="t" r="r" b="b"/>
            <a:pathLst>
              <a:path w="100000" h="2703" fill="none">
                <a:moveTo>
                  <a:pt x="100000" y="0"/>
                </a:moveTo>
                <a:lnTo>
                  <a:pt x="0" y="0"/>
                </a:lnTo>
              </a:path>
            </a:pathLst>
          </a:custGeom>
          <a:ln w="27940" cap="rnd">
            <a:solidFill>
              <a:srgbClr val="16A34A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38" name="Freeform 338"/>
          <p:cNvSpPr/>
          <p:nvPr/>
        </p:nvSpPr>
        <p:spPr>
          <a:xfrm>
            <a:off x="8572500" y="3733800"/>
            <a:ext cx="469900" cy="12700"/>
          </a:xfrm>
          <a:custGeom>
            <a:avLst/>
            <a:gdLst/>
            <a:ahLst/>
            <a:cxnLst/>
            <a:rect l="l" t="t" r="r" b="b"/>
            <a:pathLst>
              <a:path w="100000" h="2703" fill="none">
                <a:moveTo>
                  <a:pt x="0" y="0"/>
                </a:moveTo>
                <a:lnTo>
                  <a:pt x="100000" y="0"/>
                </a:lnTo>
              </a:path>
            </a:pathLst>
          </a:custGeom>
          <a:ln w="27940" cap="rnd">
            <a:solidFill>
              <a:srgbClr val="16A34A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39" name="Freeform 339"/>
          <p:cNvSpPr/>
          <p:nvPr/>
        </p:nvSpPr>
        <p:spPr>
          <a:xfrm>
            <a:off x="6921500" y="5651500"/>
            <a:ext cx="673100" cy="12700"/>
          </a:xfrm>
          <a:custGeom>
            <a:avLst/>
            <a:gdLst/>
            <a:ahLst/>
            <a:cxnLst/>
            <a:rect l="l" t="t" r="r" b="b"/>
            <a:pathLst>
              <a:path w="100000" h="1887" fill="none">
                <a:moveTo>
                  <a:pt x="0" y="0"/>
                </a:moveTo>
                <a:lnTo>
                  <a:pt x="84906" y="0"/>
                </a:lnTo>
                <a:lnTo>
                  <a:pt x="84906" y="0"/>
                </a:lnTo>
                <a:lnTo>
                  <a:pt x="100000" y="0"/>
                </a:lnTo>
              </a:path>
            </a:pathLst>
          </a:custGeom>
          <a:ln w="27940" cap="rnd">
            <a:solidFill>
              <a:srgbClr val="64748B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40" name="Freeform 340"/>
          <p:cNvSpPr/>
          <p:nvPr/>
        </p:nvSpPr>
        <p:spPr>
          <a:xfrm>
            <a:off x="8572500" y="5651500"/>
            <a:ext cx="469900" cy="12700"/>
          </a:xfrm>
          <a:custGeom>
            <a:avLst/>
            <a:gdLst/>
            <a:ahLst/>
            <a:cxnLst/>
            <a:rect l="l" t="t" r="r" b="b"/>
            <a:pathLst>
              <a:path w="100000" h="2703" fill="none">
                <a:moveTo>
                  <a:pt x="0" y="0"/>
                </a:moveTo>
                <a:lnTo>
                  <a:pt x="100000" y="0"/>
                </a:lnTo>
              </a:path>
            </a:pathLst>
          </a:custGeom>
          <a:ln w="27940" cap="rnd">
            <a:solidFill>
              <a:srgbClr val="64748B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41" name="Freeform 341"/>
          <p:cNvSpPr/>
          <p:nvPr/>
        </p:nvSpPr>
        <p:spPr>
          <a:xfrm>
            <a:off x="10185400" y="3987800"/>
            <a:ext cx="12700" cy="1181100"/>
          </a:xfrm>
          <a:custGeom>
            <a:avLst/>
            <a:gdLst/>
            <a:ahLst/>
            <a:cxnLst/>
            <a:rect l="l" t="t" r="r" b="b"/>
            <a:pathLst>
              <a:path w="1075" h="100000" fill="none">
                <a:moveTo>
                  <a:pt x="0" y="100000"/>
                </a:moveTo>
                <a:lnTo>
                  <a:pt x="0" y="0"/>
                </a:lnTo>
              </a:path>
            </a:pathLst>
          </a:custGeom>
          <a:ln w="27940" cap="rnd">
            <a:solidFill>
              <a:srgbClr val="64748B"/>
            </a:solidFill>
            <a:prstDash val="solid"/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342" name="Rectangle 30"/>
          <p:cNvSpPr/>
          <p:nvPr/>
        </p:nvSpPr>
        <p:spPr>
          <a:xfrm>
            <a:off x="635000" y="1600200"/>
            <a:ext cx="2082800" cy="1473200"/>
          </a:xfrm>
          <a:prstGeom prst="roundRect">
            <a:avLst/>
          </a:prstGeom>
          <a:solidFill>
            <a:srgbClr val="DBEAFE"/>
          </a:solidFill>
          <a:ln w="25400">
            <a:solidFill>
              <a:srgbClr val="256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3" name="TextBox 31"/>
          <p:cNvSpPr txBox="1"/>
          <p:nvPr/>
        </p:nvSpPr>
        <p:spPr>
          <a:xfrm>
            <a:off x="800100" y="1765300"/>
            <a:ext cx="1752600" cy="45720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Inter"/>
              </a:rPr>
              <a:t>5-STAGE RV32I CPU</a:t>
            </a:r>
            <a:endParaRPr sz="1500" b="1">
              <a:solidFill>
                <a:srgbClr val="1E3A8A"/>
              </a:solidFill>
              <a:latin typeface="Inter"/>
            </a:endParaRPr>
          </a:p>
        </p:txBody>
      </p:sp>
      <p:sp>
        <p:nvSpPr>
          <p:cNvPr id="344" name="TextBox 32"/>
          <p:cNvSpPr txBox="1"/>
          <p:nvPr/>
        </p:nvSpPr>
        <p:spPr>
          <a:xfrm>
            <a:off x="800100" y="2171700"/>
            <a:ext cx="1752600" cy="48006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1050" b="0">
                <a:solidFill>
                  <a:srgbClr val="1E3A8A"/>
                </a:solidFill>
                <a:latin typeface="Inter"/>
              </a:rPr>
              <a:t>Forwarding + interlocks</a:t>
            </a:r>
            <a:endParaRPr sz="1050" b="0">
              <a:solidFill>
                <a:srgbClr val="1E3A8A"/>
              </a:solidFill>
              <a:latin typeface="Inter"/>
            </a:endParaRPr>
          </a:p>
          <a:p>
            <a:pPr algn="ctr"/>
            <a:r>
              <a:rPr sz="1050" b="0">
                <a:solidFill>
                  <a:srgbClr val="1E3A8A"/>
                </a:solidFill>
                <a:latin typeface="Inter"/>
              </a:rPr>
              <a:t>Retirement trace</a:t>
            </a:r>
            <a:endParaRPr sz="1050" b="0">
              <a:solidFill>
                <a:srgbClr val="1E3A8A"/>
              </a:solidFill>
              <a:latin typeface="Inter"/>
            </a:endParaRPr>
          </a:p>
          <a:p>
            <a:pPr algn="ctr"/>
            <a:r>
              <a:rPr sz="1050" b="0">
                <a:solidFill>
                  <a:srgbClr val="1E3A8A"/>
                </a:solidFill>
                <a:latin typeface="Inter"/>
              </a:rPr>
              <a:t>Fail-stop bus faults</a:t>
            </a:r>
            <a:endParaRPr sz="1050" b="0">
              <a:solidFill>
                <a:srgbClr val="1E3A8A"/>
              </a:solidFill>
              <a:latin typeface="Inter"/>
            </a:endParaRPr>
          </a:p>
        </p:txBody>
      </p:sp>
      <p:sp>
        <p:nvSpPr>
          <p:cNvPr id="345" name="Rectangle 33"/>
          <p:cNvSpPr/>
          <p:nvPr/>
        </p:nvSpPr>
        <p:spPr>
          <a:xfrm>
            <a:off x="3200400" y="1600200"/>
            <a:ext cx="1612900" cy="6604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60A5F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6" name="TextBox 34"/>
          <p:cNvSpPr txBox="1"/>
          <p:nvPr/>
        </p:nvSpPr>
        <p:spPr>
          <a:xfrm>
            <a:off x="3340100" y="1689100"/>
            <a:ext cx="1333500" cy="18288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Inter"/>
              </a:rPr>
              <a:t>I-CACHE</a:t>
            </a:r>
            <a:endParaRPr sz="1200" b="1">
              <a:solidFill>
                <a:srgbClr val="1D4ED8"/>
              </a:solidFill>
              <a:latin typeface="Inter"/>
            </a:endParaRPr>
          </a:p>
        </p:txBody>
      </p:sp>
      <p:sp>
        <p:nvSpPr>
          <p:cNvPr id="347" name="TextBox 35"/>
          <p:cNvSpPr txBox="1"/>
          <p:nvPr/>
        </p:nvSpPr>
        <p:spPr>
          <a:xfrm>
            <a:off x="3340100" y="1943100"/>
            <a:ext cx="1333500" cy="12954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Inter"/>
              </a:rPr>
              <a:t>blocking • direct map</a:t>
            </a:r>
            <a:endParaRPr sz="850" b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348" name="Rectangle 36"/>
          <p:cNvSpPr/>
          <p:nvPr/>
        </p:nvSpPr>
        <p:spPr>
          <a:xfrm>
            <a:off x="5143500" y="1600200"/>
            <a:ext cx="1778000" cy="660400"/>
          </a:xfrm>
          <a:prstGeom prst="roundRect">
            <a:avLst/>
          </a:prstGeom>
          <a:solidFill>
            <a:srgbClr val="F1F5F9"/>
          </a:solidFill>
          <a:ln w="17780">
            <a:solidFill>
              <a:srgbClr val="94A3B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9" name="TextBox 37"/>
          <p:cNvSpPr txBox="1"/>
          <p:nvPr/>
        </p:nvSpPr>
        <p:spPr>
          <a:xfrm>
            <a:off x="5245100" y="1689100"/>
            <a:ext cx="1574800" cy="140208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920" b="1">
                <a:solidFill>
                  <a:srgbClr val="334155"/>
                </a:solidFill>
                <a:latin typeface="Inter"/>
              </a:rPr>
              <a:t>CPU PROGRAM MEMORY</a:t>
            </a:r>
            <a:endParaRPr sz="920" b="1">
              <a:solidFill>
                <a:srgbClr val="334155"/>
              </a:solidFill>
              <a:latin typeface="Inter"/>
            </a:endParaRPr>
          </a:p>
        </p:txBody>
      </p:sp>
      <p:sp>
        <p:nvSpPr>
          <p:cNvPr id="350" name="TextBox 38"/>
          <p:cNvSpPr txBox="1"/>
          <p:nvPr/>
        </p:nvSpPr>
        <p:spPr>
          <a:xfrm>
            <a:off x="5270500" y="1955800"/>
            <a:ext cx="1524000" cy="126492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830" b="0">
                <a:solidFill>
                  <a:srgbClr val="64748B"/>
                </a:solidFill>
                <a:latin typeface="Inter"/>
              </a:rPr>
              <a:t>4 KiB private fetch</a:t>
            </a:r>
            <a:endParaRPr sz="830" b="0">
              <a:solidFill>
                <a:srgbClr val="64748B"/>
              </a:solidFill>
              <a:latin typeface="Inter"/>
            </a:endParaRPr>
          </a:p>
        </p:txBody>
      </p:sp>
      <p:sp>
        <p:nvSpPr>
          <p:cNvPr id="351" name="Rectangle 39"/>
          <p:cNvSpPr/>
          <p:nvPr/>
        </p:nvSpPr>
        <p:spPr>
          <a:xfrm>
            <a:off x="3200400" y="2794000"/>
            <a:ext cx="1612900" cy="9525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60A5F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2" name="TextBox 40"/>
          <p:cNvSpPr txBox="1"/>
          <p:nvPr/>
        </p:nvSpPr>
        <p:spPr>
          <a:xfrm>
            <a:off x="3340100" y="2895600"/>
            <a:ext cx="1333500" cy="18288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Inter"/>
              </a:rPr>
              <a:t>DATA ROUTER</a:t>
            </a:r>
            <a:endParaRPr sz="1200" b="1">
              <a:solidFill>
                <a:srgbClr val="1D4ED8"/>
              </a:solidFill>
              <a:latin typeface="Inter"/>
            </a:endParaRPr>
          </a:p>
        </p:txBody>
      </p:sp>
      <p:sp>
        <p:nvSpPr>
          <p:cNvPr id="353" name="TextBox 41"/>
          <p:cNvSpPr txBox="1"/>
          <p:nvPr/>
        </p:nvSpPr>
        <p:spPr>
          <a:xfrm>
            <a:off x="3340100" y="3175000"/>
            <a:ext cx="1333500" cy="402336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880" b="0">
                <a:solidFill>
                  <a:srgbClr val="475569"/>
                </a:solidFill>
                <a:latin typeface="Inter"/>
              </a:rPr>
              <a:t>cached private RAM</a:t>
            </a:r>
            <a:endParaRPr sz="880" b="0">
              <a:solidFill>
                <a:srgbClr val="475569"/>
              </a:solidFill>
              <a:latin typeface="Inter"/>
            </a:endParaRPr>
          </a:p>
          <a:p>
            <a:pPr algn="ctr"/>
            <a:r>
              <a:rPr sz="880" b="0">
                <a:solidFill>
                  <a:srgbClr val="475569"/>
                </a:solidFill>
                <a:latin typeface="Inter"/>
              </a:rPr>
              <a:t>uncached MMIO / buffers</a:t>
            </a:r>
            <a:endParaRPr sz="880" b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354" name="Rectangle 42"/>
          <p:cNvSpPr/>
          <p:nvPr/>
        </p:nvSpPr>
        <p:spPr>
          <a:xfrm>
            <a:off x="5143500" y="2794000"/>
            <a:ext cx="1778000" cy="9525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60A5F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5" name="TextBox 43"/>
          <p:cNvSpPr txBox="1"/>
          <p:nvPr/>
        </p:nvSpPr>
        <p:spPr>
          <a:xfrm>
            <a:off x="5270500" y="2895600"/>
            <a:ext cx="1524000" cy="18288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Inter"/>
              </a:rPr>
              <a:t>D-CACHE</a:t>
            </a:r>
            <a:endParaRPr sz="1200" b="1">
              <a:solidFill>
                <a:srgbClr val="1D4ED8"/>
              </a:solidFill>
              <a:latin typeface="Inter"/>
            </a:endParaRPr>
          </a:p>
        </p:txBody>
      </p:sp>
      <p:sp>
        <p:nvSpPr>
          <p:cNvPr id="356" name="TextBox 44"/>
          <p:cNvSpPr txBox="1"/>
          <p:nvPr/>
        </p:nvSpPr>
        <p:spPr>
          <a:xfrm>
            <a:off x="5270500" y="3175000"/>
            <a:ext cx="1524000" cy="268224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880" b="0">
                <a:solidFill>
                  <a:srgbClr val="475569"/>
                </a:solidFill>
                <a:latin typeface="Inter"/>
              </a:rPr>
              <a:t>write-back / allocate</a:t>
            </a:r>
            <a:endParaRPr sz="880" b="0">
              <a:solidFill>
                <a:srgbClr val="475569"/>
              </a:solidFill>
              <a:latin typeface="Inter"/>
            </a:endParaRPr>
          </a:p>
          <a:p>
            <a:pPr algn="ctr"/>
            <a:r>
              <a:rPr sz="880" b="0">
                <a:solidFill>
                  <a:srgbClr val="475569"/>
                </a:solidFill>
                <a:latin typeface="Inter"/>
              </a:rPr>
              <a:t>0x4000–0x4FFF only</a:t>
            </a:r>
            <a:endParaRPr sz="880" b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357" name="Rectangle 45"/>
          <p:cNvSpPr/>
          <p:nvPr/>
        </p:nvSpPr>
        <p:spPr>
          <a:xfrm>
            <a:off x="3200400" y="4140200"/>
            <a:ext cx="1612900" cy="1003300"/>
          </a:xfrm>
          <a:prstGeom prst="roundRect">
            <a:avLst/>
          </a:prstGeom>
          <a:solidFill>
            <a:srgbClr val="FEF3C7"/>
          </a:solidFill>
          <a:ln w="21590">
            <a:solidFill>
              <a:srgbClr val="D9770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8" name="TextBox 46"/>
          <p:cNvSpPr txBox="1"/>
          <p:nvPr/>
        </p:nvSpPr>
        <p:spPr>
          <a:xfrm>
            <a:off x="3340100" y="4241800"/>
            <a:ext cx="1333500" cy="16764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1100" b="1">
                <a:solidFill>
                  <a:srgbClr val="92400E"/>
                </a:solidFill>
                <a:latin typeface="Inter"/>
              </a:rPr>
              <a:t>CPU AXI ADAPTER</a:t>
            </a:r>
            <a:endParaRPr sz="1100" b="1">
              <a:solidFill>
                <a:srgbClr val="92400E"/>
              </a:solidFill>
              <a:latin typeface="Inter"/>
            </a:endParaRPr>
          </a:p>
        </p:txBody>
      </p:sp>
      <p:sp>
        <p:nvSpPr>
          <p:cNvPr id="359" name="TextBox 47"/>
          <p:cNvSpPr txBox="1"/>
          <p:nvPr/>
        </p:nvSpPr>
        <p:spPr>
          <a:xfrm>
            <a:off x="3340100" y="4533900"/>
            <a:ext cx="1333500" cy="402336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880" b="0">
                <a:solidFill>
                  <a:srgbClr val="78350F"/>
                </a:solidFill>
                <a:latin typeface="Inter"/>
              </a:rPr>
              <a:t>one outstanding</a:t>
            </a:r>
            <a:endParaRPr sz="880" b="0">
              <a:solidFill>
                <a:srgbClr val="78350F"/>
              </a:solidFill>
              <a:latin typeface="Inter"/>
            </a:endParaRPr>
          </a:p>
          <a:p>
            <a:pPr algn="ctr"/>
            <a:r>
              <a:rPr sz="880" b="0">
                <a:solidFill>
                  <a:srgbClr val="78350F"/>
                </a:solidFill>
                <a:latin typeface="Inter"/>
              </a:rPr>
              <a:t>byte strobes • sticky fault</a:t>
            </a:r>
            <a:endParaRPr sz="880" b="0">
              <a:solidFill>
                <a:srgbClr val="78350F"/>
              </a:solidFill>
              <a:latin typeface="Inter"/>
            </a:endParaRPr>
          </a:p>
        </p:txBody>
      </p:sp>
      <p:sp>
        <p:nvSpPr>
          <p:cNvPr id="360" name="Rectangle 48"/>
          <p:cNvSpPr/>
          <p:nvPr/>
        </p:nvSpPr>
        <p:spPr>
          <a:xfrm>
            <a:off x="5143500" y="4140200"/>
            <a:ext cx="1778000" cy="1003300"/>
          </a:xfrm>
          <a:prstGeom prst="roundRect">
            <a:avLst/>
          </a:prstGeom>
          <a:solidFill>
            <a:srgbClr val="FEF3C7"/>
          </a:solidFill>
          <a:ln w="21590">
            <a:solidFill>
              <a:srgbClr val="D9770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1" name="TextBox 49"/>
          <p:cNvSpPr txBox="1"/>
          <p:nvPr/>
        </p:nvSpPr>
        <p:spPr>
          <a:xfrm>
            <a:off x="5270500" y="4241800"/>
            <a:ext cx="1524000" cy="18288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1200" b="1">
                <a:solidFill>
                  <a:srgbClr val="92400E"/>
                </a:solidFill>
                <a:latin typeface="Inter"/>
              </a:rPr>
              <a:t>AXI4-LITE</a:t>
            </a:r>
            <a:endParaRPr sz="1200" b="1">
              <a:solidFill>
                <a:srgbClr val="92400E"/>
              </a:solidFill>
              <a:latin typeface="Inter"/>
            </a:endParaRPr>
          </a:p>
        </p:txBody>
      </p:sp>
      <p:sp>
        <p:nvSpPr>
          <p:cNvPr id="362" name="TextBox 50"/>
          <p:cNvSpPr txBox="1"/>
          <p:nvPr/>
        </p:nvSpPr>
        <p:spPr>
          <a:xfrm>
            <a:off x="5270500" y="4533900"/>
            <a:ext cx="1524000" cy="268224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880" b="0">
                <a:solidFill>
                  <a:srgbClr val="78350F"/>
                </a:solidFill>
                <a:latin typeface="Inter"/>
              </a:rPr>
              <a:t>address decode</a:t>
            </a:r>
            <a:endParaRPr sz="880" b="0">
              <a:solidFill>
                <a:srgbClr val="78350F"/>
              </a:solidFill>
              <a:latin typeface="Inter"/>
            </a:endParaRPr>
          </a:p>
          <a:p>
            <a:pPr algn="ctr"/>
            <a:r>
              <a:rPr sz="880" b="0">
                <a:solidFill>
                  <a:srgbClr val="78350F"/>
                </a:solidFill>
                <a:latin typeface="Inter"/>
              </a:rPr>
              <a:t>RAM + GPU MMIO</a:t>
            </a:r>
            <a:endParaRPr sz="880" b="0">
              <a:solidFill>
                <a:srgbClr val="78350F"/>
              </a:solidFill>
              <a:latin typeface="Inter"/>
            </a:endParaRPr>
          </a:p>
        </p:txBody>
      </p:sp>
      <p:sp>
        <p:nvSpPr>
          <p:cNvPr id="363" name="Rectangle 51"/>
          <p:cNvSpPr/>
          <p:nvPr/>
        </p:nvSpPr>
        <p:spPr>
          <a:xfrm>
            <a:off x="3200400" y="5397500"/>
            <a:ext cx="1612900" cy="787400"/>
          </a:xfrm>
          <a:prstGeom prst="roundRect">
            <a:avLst/>
          </a:prstGeom>
          <a:solidFill>
            <a:srgbClr val="F3E8FF"/>
          </a:solidFill>
          <a:ln w="20320">
            <a:solidFill>
              <a:srgbClr val="9333E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4" name="TextBox 52"/>
          <p:cNvSpPr txBox="1"/>
          <p:nvPr/>
        </p:nvSpPr>
        <p:spPr>
          <a:xfrm>
            <a:off x="3340100" y="5486400"/>
            <a:ext cx="1333500" cy="16764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1100" b="1">
                <a:solidFill>
                  <a:srgbClr val="6B21A8"/>
                </a:solidFill>
                <a:latin typeface="Inter"/>
              </a:rPr>
              <a:t>GPU MMIO</a:t>
            </a:r>
            <a:endParaRPr sz="1100" b="1">
              <a:solidFill>
                <a:srgbClr val="6B21A8"/>
              </a:solidFill>
              <a:latin typeface="Inter"/>
            </a:endParaRPr>
          </a:p>
        </p:txBody>
      </p:sp>
      <p:sp>
        <p:nvSpPr>
          <p:cNvPr id="365" name="TextBox 53"/>
          <p:cNvSpPr txBox="1"/>
          <p:nvPr/>
        </p:nvSpPr>
        <p:spPr>
          <a:xfrm>
            <a:off x="3340100" y="5753100"/>
            <a:ext cx="1333500" cy="262128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860" b="0">
                <a:solidFill>
                  <a:srgbClr val="6B21A8"/>
                </a:solidFill>
                <a:latin typeface="Inter"/>
              </a:rPr>
              <a:t>shadow config</a:t>
            </a:r>
            <a:endParaRPr sz="860" b="0">
              <a:solidFill>
                <a:srgbClr val="6B21A8"/>
              </a:solidFill>
              <a:latin typeface="Inter"/>
            </a:endParaRPr>
          </a:p>
          <a:p>
            <a:pPr algn="ctr"/>
            <a:r>
              <a:rPr sz="860" b="0">
                <a:solidFill>
                  <a:srgbClr val="6B21A8"/>
                </a:solidFill>
                <a:latin typeface="Inter"/>
              </a:rPr>
              <a:t>busy + sticky done</a:t>
            </a:r>
            <a:endParaRPr sz="860" b="0">
              <a:solidFill>
                <a:srgbClr val="6B21A8"/>
              </a:solidFill>
              <a:latin typeface="Inter"/>
            </a:endParaRPr>
          </a:p>
        </p:txBody>
      </p:sp>
      <p:sp>
        <p:nvSpPr>
          <p:cNvPr id="366" name="Rectangle 54"/>
          <p:cNvSpPr/>
          <p:nvPr/>
        </p:nvSpPr>
        <p:spPr>
          <a:xfrm>
            <a:off x="5143500" y="5397500"/>
            <a:ext cx="1778000" cy="787400"/>
          </a:xfrm>
          <a:prstGeom prst="roundRect">
            <a:avLst/>
          </a:prstGeom>
          <a:solidFill>
            <a:srgbClr val="DCFCE7"/>
          </a:solidFill>
          <a:ln w="20320">
            <a:solidFill>
              <a:srgbClr val="16A34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7" name="TextBox 55"/>
          <p:cNvSpPr txBox="1"/>
          <p:nvPr/>
        </p:nvSpPr>
        <p:spPr>
          <a:xfrm>
            <a:off x="5270500" y="5486400"/>
            <a:ext cx="1524000" cy="16764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1100" b="1">
                <a:solidFill>
                  <a:srgbClr val="166534"/>
                </a:solidFill>
                <a:latin typeface="Inter"/>
              </a:rPr>
              <a:t>SHARED RAM</a:t>
            </a:r>
            <a:endParaRPr sz="1100" b="1">
              <a:solidFill>
                <a:srgbClr val="166534"/>
              </a:solidFill>
              <a:latin typeface="Inter"/>
            </a:endParaRPr>
          </a:p>
        </p:txBody>
      </p:sp>
      <p:sp>
        <p:nvSpPr>
          <p:cNvPr id="368" name="TextBox 56"/>
          <p:cNvSpPr txBox="1"/>
          <p:nvPr/>
        </p:nvSpPr>
        <p:spPr>
          <a:xfrm>
            <a:off x="5270500" y="5753100"/>
            <a:ext cx="1524000" cy="262128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860" b="0">
                <a:solidFill>
                  <a:srgbClr val="166534"/>
                </a:solidFill>
                <a:latin typeface="Inter"/>
              </a:rPr>
              <a:t>uncached framebuffers</a:t>
            </a:r>
            <a:endParaRPr sz="860" b="0">
              <a:solidFill>
                <a:srgbClr val="166534"/>
              </a:solidFill>
              <a:latin typeface="Inter"/>
            </a:endParaRPr>
          </a:p>
          <a:p>
            <a:pPr algn="ctr"/>
            <a:r>
              <a:rPr sz="860" b="0">
                <a:solidFill>
                  <a:srgbClr val="166534"/>
                </a:solidFill>
                <a:latin typeface="Inter"/>
              </a:rPr>
              <a:t>CPU-owned dual ports</a:t>
            </a:r>
            <a:endParaRPr sz="860" b="0">
              <a:solidFill>
                <a:srgbClr val="166534"/>
              </a:solidFill>
              <a:latin typeface="Inter"/>
            </a:endParaRPr>
          </a:p>
        </p:txBody>
      </p:sp>
      <p:sp>
        <p:nvSpPr>
          <p:cNvPr id="369" name="Rectangle 57"/>
          <p:cNvSpPr/>
          <p:nvPr/>
        </p:nvSpPr>
        <p:spPr>
          <a:xfrm>
            <a:off x="7594600" y="1676400"/>
            <a:ext cx="889000" cy="76200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0" name="TextBox 58"/>
          <p:cNvSpPr txBox="1"/>
          <p:nvPr/>
        </p:nvSpPr>
        <p:spPr>
          <a:xfrm>
            <a:off x="7658100" y="1752600"/>
            <a:ext cx="762000" cy="14478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950" b="1">
                <a:solidFill>
                  <a:srgbClr val="6B21A8"/>
                </a:solidFill>
                <a:latin typeface="Inter"/>
              </a:rPr>
              <a:t>COMMAND</a:t>
            </a:r>
            <a:endParaRPr sz="950" b="1">
              <a:solidFill>
                <a:srgbClr val="6B21A8"/>
              </a:solidFill>
              <a:latin typeface="Inter"/>
            </a:endParaRPr>
          </a:p>
        </p:txBody>
      </p:sp>
      <p:sp>
        <p:nvSpPr>
          <p:cNvPr id="371" name="TextBox 59"/>
          <p:cNvSpPr txBox="1"/>
          <p:nvPr/>
        </p:nvSpPr>
        <p:spPr>
          <a:xfrm>
            <a:off x="7658100" y="2006600"/>
            <a:ext cx="762000" cy="240792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790" b="0">
                <a:solidFill>
                  <a:srgbClr val="7E22CE"/>
                </a:solidFill>
                <a:latin typeface="Inter"/>
              </a:rPr>
              <a:t>atomic launch</a:t>
            </a:r>
            <a:endParaRPr sz="790" b="0">
              <a:solidFill>
                <a:srgbClr val="7E22CE"/>
              </a:solidFill>
              <a:latin typeface="Inter"/>
            </a:endParaRPr>
          </a:p>
          <a:p>
            <a:pPr algn="ctr"/>
            <a:r>
              <a:rPr sz="790" b="0">
                <a:solidFill>
                  <a:srgbClr val="7E22CE"/>
                </a:solidFill>
                <a:latin typeface="Inter"/>
              </a:rPr>
              <a:t>config →</a:t>
            </a:r>
            <a:endParaRPr sz="790" b="0">
              <a:solidFill>
                <a:srgbClr val="7E22CE"/>
              </a:solidFill>
              <a:latin typeface="Inter"/>
            </a:endParaRPr>
          </a:p>
        </p:txBody>
      </p:sp>
      <p:sp>
        <p:nvSpPr>
          <p:cNvPr id="372" name="Rectangle 60"/>
          <p:cNvSpPr/>
          <p:nvPr/>
        </p:nvSpPr>
        <p:spPr>
          <a:xfrm>
            <a:off x="7594600" y="2514600"/>
            <a:ext cx="889000" cy="53340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3" name="TextBox 61"/>
          <p:cNvSpPr txBox="1"/>
          <p:nvPr/>
        </p:nvSpPr>
        <p:spPr>
          <a:xfrm>
            <a:off x="7658100" y="2578100"/>
            <a:ext cx="762000" cy="12954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850" b="1">
                <a:solidFill>
                  <a:srgbClr val="6B21A8"/>
                </a:solidFill>
                <a:latin typeface="Inter"/>
              </a:rPr>
              <a:t>COMPLETE</a:t>
            </a:r>
            <a:endParaRPr sz="850" b="1">
              <a:solidFill>
                <a:srgbClr val="6B21A8"/>
              </a:solidFill>
              <a:latin typeface="Inter"/>
            </a:endParaRPr>
          </a:p>
        </p:txBody>
      </p:sp>
      <p:sp>
        <p:nvSpPr>
          <p:cNvPr id="374" name="TextBox 62"/>
          <p:cNvSpPr txBox="1"/>
          <p:nvPr/>
        </p:nvSpPr>
        <p:spPr>
          <a:xfrm>
            <a:off x="7658100" y="2768600"/>
            <a:ext cx="762000" cy="120396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790" b="0">
                <a:solidFill>
                  <a:srgbClr val="7E22CE"/>
                </a:solidFill>
                <a:latin typeface="Inter"/>
              </a:rPr>
              <a:t>event ←</a:t>
            </a:r>
            <a:endParaRPr sz="790" b="0">
              <a:solidFill>
                <a:srgbClr val="7E22CE"/>
              </a:solidFill>
              <a:latin typeface="Inter"/>
            </a:endParaRPr>
          </a:p>
        </p:txBody>
      </p:sp>
      <p:sp>
        <p:nvSpPr>
          <p:cNvPr id="375" name="Rectangle 63"/>
          <p:cNvSpPr/>
          <p:nvPr/>
        </p:nvSpPr>
        <p:spPr>
          <a:xfrm>
            <a:off x="7594600" y="3149600"/>
            <a:ext cx="889000" cy="939800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22C55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6" name="TextBox 64"/>
          <p:cNvSpPr txBox="1"/>
          <p:nvPr/>
        </p:nvSpPr>
        <p:spPr>
          <a:xfrm>
            <a:off x="7658100" y="3238500"/>
            <a:ext cx="762000" cy="14478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950" b="1">
                <a:solidFill>
                  <a:srgbClr val="166534"/>
                </a:solidFill>
                <a:latin typeface="Inter"/>
              </a:rPr>
              <a:t>MEMORY</a:t>
            </a:r>
            <a:endParaRPr sz="950" b="1">
              <a:solidFill>
                <a:srgbClr val="166534"/>
              </a:solidFill>
              <a:latin typeface="Inter"/>
            </a:endParaRPr>
          </a:p>
        </p:txBody>
      </p:sp>
      <p:sp>
        <p:nvSpPr>
          <p:cNvPr id="377" name="TextBox 65"/>
          <p:cNvSpPr txBox="1"/>
          <p:nvPr/>
        </p:nvSpPr>
        <p:spPr>
          <a:xfrm>
            <a:off x="7658100" y="3492500"/>
            <a:ext cx="762000" cy="361188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790" b="0">
                <a:solidFill>
                  <a:srgbClr val="15803D"/>
                </a:solidFill>
                <a:latin typeface="Inter"/>
              </a:rPr>
              <a:t>request →</a:t>
            </a:r>
            <a:endParaRPr sz="790" b="0">
              <a:solidFill>
                <a:srgbClr val="15803D"/>
              </a:solidFill>
              <a:latin typeface="Inter"/>
            </a:endParaRPr>
          </a:p>
          <a:p>
            <a:pPr algn="ctr"/>
            <a:r>
              <a:rPr sz="790" b="0">
                <a:solidFill>
                  <a:srgbClr val="15803D"/>
                </a:solidFill>
                <a:latin typeface="Inter"/>
              </a:rPr>
              <a:t>response ←</a:t>
            </a:r>
            <a:endParaRPr sz="790" b="0">
              <a:solidFill>
                <a:srgbClr val="15803D"/>
              </a:solidFill>
              <a:latin typeface="Inter"/>
            </a:endParaRPr>
          </a:p>
          <a:p>
            <a:pPr algn="ctr"/>
            <a:r>
              <a:rPr sz="790" b="0">
                <a:solidFill>
                  <a:srgbClr val="15803D"/>
                </a:solidFill>
                <a:latin typeface="Inter"/>
              </a:rPr>
              <a:t>write ack</a:t>
            </a:r>
            <a:endParaRPr sz="790" b="0">
              <a:solidFill>
                <a:srgbClr val="15803D"/>
              </a:solidFill>
              <a:latin typeface="Inter"/>
            </a:endParaRPr>
          </a:p>
        </p:txBody>
      </p:sp>
      <p:sp>
        <p:nvSpPr>
          <p:cNvPr id="378" name="Rectangle 66"/>
          <p:cNvSpPr/>
          <p:nvPr/>
        </p:nvSpPr>
        <p:spPr>
          <a:xfrm>
            <a:off x="7594600" y="4267200"/>
            <a:ext cx="889000" cy="66040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A855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9" name="TextBox 67"/>
          <p:cNvSpPr txBox="1"/>
          <p:nvPr/>
        </p:nvSpPr>
        <p:spPr>
          <a:xfrm>
            <a:off x="7658100" y="4343400"/>
            <a:ext cx="762000" cy="13716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900" b="1">
                <a:solidFill>
                  <a:srgbClr val="6B21A8"/>
                </a:solidFill>
                <a:latin typeface="Inter"/>
              </a:rPr>
              <a:t>RESET</a:t>
            </a:r>
            <a:endParaRPr sz="900" b="1">
              <a:solidFill>
                <a:srgbClr val="6B21A8"/>
              </a:solidFill>
              <a:latin typeface="Inter"/>
            </a:endParaRPr>
          </a:p>
        </p:txBody>
      </p:sp>
      <p:sp>
        <p:nvSpPr>
          <p:cNvPr id="380" name="TextBox 68"/>
          <p:cNvSpPr txBox="1"/>
          <p:nvPr/>
        </p:nvSpPr>
        <p:spPr>
          <a:xfrm>
            <a:off x="7658100" y="4546600"/>
            <a:ext cx="762000" cy="231648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760" b="0">
                <a:solidFill>
                  <a:srgbClr val="7E22CE"/>
                </a:solidFill>
                <a:latin typeface="Inter"/>
              </a:rPr>
              <a:t>async assert</a:t>
            </a:r>
            <a:endParaRPr sz="760" b="0">
              <a:solidFill>
                <a:srgbClr val="7E22CE"/>
              </a:solidFill>
              <a:latin typeface="Inter"/>
            </a:endParaRPr>
          </a:p>
          <a:p>
            <a:pPr algn="ctr"/>
            <a:r>
              <a:rPr sz="760" b="0">
                <a:solidFill>
                  <a:srgbClr val="7E22CE"/>
                </a:solidFill>
                <a:latin typeface="Inter"/>
              </a:rPr>
              <a:t>sync release</a:t>
            </a:r>
            <a:endParaRPr sz="760" b="0">
              <a:solidFill>
                <a:srgbClr val="7E22CE"/>
              </a:solidFill>
              <a:latin typeface="Inter"/>
            </a:endParaRPr>
          </a:p>
        </p:txBody>
      </p:sp>
      <p:sp>
        <p:nvSpPr>
          <p:cNvPr id="381" name="Rectangle 69"/>
          <p:cNvSpPr/>
          <p:nvPr/>
        </p:nvSpPr>
        <p:spPr>
          <a:xfrm>
            <a:off x="7594600" y="5334000"/>
            <a:ext cx="889000" cy="6350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2" name="TextBox 70"/>
          <p:cNvSpPr txBox="1"/>
          <p:nvPr/>
        </p:nvSpPr>
        <p:spPr>
          <a:xfrm>
            <a:off x="7658100" y="5410200"/>
            <a:ext cx="762000" cy="132588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870" b="1">
                <a:solidFill>
                  <a:srgbClr val="334155"/>
                </a:solidFill>
                <a:latin typeface="Inter"/>
              </a:rPr>
              <a:t>PROGRAM</a:t>
            </a:r>
            <a:endParaRPr sz="870" b="1">
              <a:solidFill>
                <a:srgbClr val="334155"/>
              </a:solidFill>
              <a:latin typeface="Inter"/>
            </a:endParaRPr>
          </a:p>
        </p:txBody>
      </p:sp>
      <p:sp>
        <p:nvSpPr>
          <p:cNvPr id="383" name="TextBox 71"/>
          <p:cNvSpPr txBox="1"/>
          <p:nvPr/>
        </p:nvSpPr>
        <p:spPr>
          <a:xfrm>
            <a:off x="7658100" y="5651500"/>
            <a:ext cx="762000" cy="117348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770" b="0">
                <a:solidFill>
                  <a:srgbClr val="475569"/>
                </a:solidFill>
                <a:latin typeface="Inter"/>
              </a:rPr>
              <a:t>boot write →</a:t>
            </a:r>
            <a:endParaRPr sz="770" b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384" name="TextBox 72"/>
          <p:cNvSpPr txBox="1"/>
          <p:nvPr/>
        </p:nvSpPr>
        <p:spPr>
          <a:xfrm>
            <a:off x="7594600" y="6019800"/>
            <a:ext cx="889000" cy="210312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690" b="0">
                <a:solidFill>
                  <a:srgbClr val="64748B"/>
                </a:solidFill>
                <a:latin typeface="Inter"/>
              </a:rPr>
              <a:t>Gray pointers • 2-FF sync</a:t>
            </a:r>
            <a:endParaRPr sz="690" b="0">
              <a:solidFill>
                <a:srgbClr val="64748B"/>
              </a:solidFill>
              <a:latin typeface="Inter"/>
            </a:endParaRPr>
          </a:p>
        </p:txBody>
      </p:sp>
      <p:sp>
        <p:nvSpPr>
          <p:cNvPr id="385" name="Rectangle 73"/>
          <p:cNvSpPr/>
          <p:nvPr/>
        </p:nvSpPr>
        <p:spPr>
          <a:xfrm>
            <a:off x="9042400" y="1600200"/>
            <a:ext cx="2286000" cy="2387600"/>
          </a:xfrm>
          <a:prstGeom prst="roundRect">
            <a:avLst/>
          </a:prstGeom>
          <a:solidFill>
            <a:srgbClr val="DCFCE7"/>
          </a:solidFill>
          <a:ln w="26670">
            <a:solidFill>
              <a:srgbClr val="16A34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6" name="TextBox 74"/>
          <p:cNvSpPr txBox="1"/>
          <p:nvPr/>
        </p:nvSpPr>
        <p:spPr>
          <a:xfrm>
            <a:off x="9232900" y="1778000"/>
            <a:ext cx="1905000" cy="25908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1700" b="1">
                <a:solidFill>
                  <a:srgbClr val="14532D"/>
                </a:solidFill>
                <a:latin typeface="Inter"/>
              </a:rPr>
              <a:t>SIMT GPU</a:t>
            </a:r>
            <a:endParaRPr sz="1700" b="1">
              <a:solidFill>
                <a:srgbClr val="14532D"/>
              </a:solidFill>
              <a:latin typeface="Inter"/>
            </a:endParaRPr>
          </a:p>
        </p:txBody>
      </p:sp>
      <p:sp>
        <p:nvSpPr>
          <p:cNvPr id="387" name="TextBox 75"/>
          <p:cNvSpPr txBox="1"/>
          <p:nvPr/>
        </p:nvSpPr>
        <p:spPr>
          <a:xfrm>
            <a:off x="9232900" y="2209800"/>
            <a:ext cx="1905000" cy="67056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1100" b="0">
                <a:solidFill>
                  <a:srgbClr val="166534"/>
                </a:solidFill>
                <a:latin typeface="Inter"/>
              </a:rPr>
              <a:t>2 warps × 4 lanes</a:t>
            </a:r>
            <a:endParaRPr sz="1100" b="0">
              <a:solidFill>
                <a:srgbClr val="166534"/>
              </a:solidFill>
              <a:latin typeface="Inter"/>
            </a:endParaRPr>
          </a:p>
          <a:p>
            <a:pPr algn="ctr"/>
            <a:r>
              <a:rPr sz="1100" b="0">
                <a:solidFill>
                  <a:srgbClr val="166534"/>
                </a:solidFill>
                <a:latin typeface="Inter"/>
              </a:rPr>
              <a:t>8 physical threads</a:t>
            </a:r>
            <a:endParaRPr sz="1100" b="0">
              <a:solidFill>
                <a:srgbClr val="166534"/>
              </a:solidFill>
              <a:latin typeface="Inter"/>
            </a:endParaRPr>
          </a:p>
          <a:p>
            <a:pPr algn="ctr"/>
            <a:r>
              <a:rPr sz="1100" b="0">
                <a:solidFill>
                  <a:srgbClr val="166534"/>
                </a:solidFill>
                <a:latin typeface="Inter"/>
              </a:rPr>
              <a:t>DCR + dispatcher</a:t>
            </a:r>
            <a:endParaRPr sz="1100" b="0">
              <a:solidFill>
                <a:srgbClr val="166534"/>
              </a:solidFill>
              <a:latin typeface="Inter"/>
            </a:endParaRPr>
          </a:p>
          <a:p>
            <a:pPr algn="ctr"/>
            <a:r>
              <a:rPr sz="1100" b="0">
                <a:solidFill>
                  <a:srgbClr val="166534"/>
                </a:solidFill>
                <a:latin typeface="Inter"/>
              </a:rPr>
              <a:t>16-bit custom ISA</a:t>
            </a:r>
            <a:endParaRPr sz="1100" b="0">
              <a:solidFill>
                <a:srgbClr val="166534"/>
              </a:solidFill>
              <a:latin typeface="Inter"/>
            </a:endParaRPr>
          </a:p>
        </p:txBody>
      </p:sp>
      <p:sp>
        <p:nvSpPr>
          <p:cNvPr id="388" name="TextBox 76"/>
          <p:cNvSpPr txBox="1"/>
          <p:nvPr/>
        </p:nvSpPr>
        <p:spPr>
          <a:xfrm>
            <a:off x="9232900" y="3289300"/>
            <a:ext cx="1905000" cy="277368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910" b="0">
                <a:solidFill>
                  <a:srgbClr val="166534"/>
                </a:solidFill>
                <a:latin typeface="Inter"/>
              </a:rPr>
              <a:t>active config snapshot</a:t>
            </a:r>
            <a:endParaRPr sz="910" b="0">
              <a:solidFill>
                <a:srgbClr val="166534"/>
              </a:solidFill>
              <a:latin typeface="Inter"/>
            </a:endParaRPr>
          </a:p>
          <a:p>
            <a:pPr algn="ctr"/>
            <a:r>
              <a:rPr sz="910" b="0">
                <a:solidFill>
                  <a:srgbClr val="166534"/>
                </a:solidFill>
                <a:latin typeface="Inter"/>
              </a:rPr>
              <a:t>owner-locked memory grant</a:t>
            </a:r>
            <a:endParaRPr sz="910" b="0">
              <a:solidFill>
                <a:srgbClr val="166534"/>
              </a:solidFill>
              <a:latin typeface="Inter"/>
            </a:endParaRPr>
          </a:p>
        </p:txBody>
      </p:sp>
      <p:sp>
        <p:nvSpPr>
          <p:cNvPr id="389" name="Rectangle 77"/>
          <p:cNvSpPr/>
          <p:nvPr/>
        </p:nvSpPr>
        <p:spPr>
          <a:xfrm>
            <a:off x="9042400" y="5168900"/>
            <a:ext cx="2286000" cy="812800"/>
          </a:xfrm>
          <a:prstGeom prst="roundRect">
            <a:avLst/>
          </a:prstGeom>
          <a:solidFill>
            <a:srgbClr val="F1F5F9"/>
          </a:solidFill>
          <a:ln w="20320">
            <a:solidFill>
              <a:srgbClr val="647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0" name="TextBox 78"/>
          <p:cNvSpPr txBox="1"/>
          <p:nvPr/>
        </p:nvSpPr>
        <p:spPr>
          <a:xfrm>
            <a:off x="9207500" y="5257800"/>
            <a:ext cx="1955800" cy="160020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1050" b="1">
                <a:solidFill>
                  <a:srgbClr val="334155"/>
                </a:solidFill>
                <a:latin typeface="Inter"/>
              </a:rPr>
              <a:t>GPU PROGRAM MEMORY</a:t>
            </a:r>
            <a:endParaRPr sz="1050" b="1">
              <a:solidFill>
                <a:srgbClr val="334155"/>
              </a:solidFill>
              <a:latin typeface="Inter"/>
            </a:endParaRPr>
          </a:p>
        </p:txBody>
      </p:sp>
      <p:sp>
        <p:nvSpPr>
          <p:cNvPr id="391" name="TextBox 79"/>
          <p:cNvSpPr txBox="1"/>
          <p:nvPr/>
        </p:nvSpPr>
        <p:spPr>
          <a:xfrm>
            <a:off x="9207500" y="5537200"/>
            <a:ext cx="1955800" cy="268224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880" b="0">
                <a:solidFill>
                  <a:srgbClr val="475569"/>
                </a:solidFill>
                <a:latin typeface="Inter"/>
              </a:rPr>
              <a:t>GPU-local instruction fetch</a:t>
            </a:r>
            <a:endParaRPr sz="880" b="0">
              <a:solidFill>
                <a:srgbClr val="475569"/>
              </a:solidFill>
              <a:latin typeface="Inter"/>
            </a:endParaRPr>
          </a:p>
          <a:p>
            <a:pPr algn="ctr"/>
            <a:r>
              <a:rPr sz="880" b="0">
                <a:solidFill>
                  <a:srgbClr val="475569"/>
                </a:solidFill>
                <a:latin typeface="Inter"/>
              </a:rPr>
              <a:t>booted through CDC</a:t>
            </a:r>
            <a:endParaRPr sz="880" b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392" name="TextBox 80"/>
          <p:cNvSpPr txBox="1"/>
          <p:nvPr/>
        </p:nvSpPr>
        <p:spPr>
          <a:xfrm>
            <a:off x="546100" y="6362700"/>
            <a:ext cx="11099800" cy="134112"/>
          </a:xfrm>
          <a:prstGeom prst="rect">
            <a:avLst/>
          </a:prstGeom>
        </p:spPr>
        <p:txBody>
          <a:bodyPr wrap="square" lIns="0" tIns="0" rIns="0" bIns="0" anchor="ctr">
            <a:normAutofit fontScale="100000"/>
          </a:bodyPr>
          <a:lstStyle/>
          <a:p>
            <a:pPr algn="ctr"/>
            <a:r>
              <a:rPr sz="880" b="0">
                <a:solidFill>
                  <a:srgbClr val="64748B"/>
                </a:solidFill>
                <a:latin typeface="Inter"/>
              </a:rPr>
              <a:t>Blue: CPU data path   •   Amber: AXI4-Lite   •   Purple: control/status CDC   •   Green: GPU memory CDC   •   Gray: private instruction path</a:t>
            </a:r>
            <a:endParaRPr sz="880" b="0">
              <a:solidFill>
                <a:srgbClr val="64748B"/>
              </a:solidFill>
              <a:latin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1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