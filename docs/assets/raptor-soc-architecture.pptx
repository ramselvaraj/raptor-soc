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/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</a:lstStyle>
          <a:p/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/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/>
          </a:bodyPr>
          <a:lstStyle/>
          <a:p/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/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/>
          </a:bodyPr>
          <a:lstStyle/>
          <a:p/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DeckCra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r>
              <a:rPr/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Box 1"/>
          <p:cNvSpPr txBox="1"/>
          <p:nvPr/>
        </p:nvSpPr>
        <p:spPr>
          <a:xfrm>
            <a:off x="508000" y="203200"/>
            <a:ext cx="11176000" cy="52170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11827"/>
                </a:solidFill>
                <a:latin typeface="Inter"/>
              </a:rPr>
              <a:t>RAPTOR-SoC Architecture</a:t>
            </a:r>
            <a:endParaRPr sz="2800" b="1">
              <a:solidFill>
                <a:srgbClr val="111827"/>
              </a:solidFill>
              <a:latin typeface="Inter"/>
            </a:endParaRPr>
          </a:p>
        </p:txBody>
      </p:sp>
      <p:sp>
        <p:nvSpPr>
          <p:cNvPr id="261" name="TextBox 2"/>
          <p:cNvSpPr txBox="1"/>
          <p:nvPr/>
        </p:nvSpPr>
        <p:spPr>
          <a:xfrm>
            <a:off x="889000" y="698500"/>
            <a:ext cx="10414000" cy="29120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sz="1300">
                <a:solidFill>
                  <a:srgbClr val="64748B"/>
                </a:solidFill>
                <a:latin typeface="Inter"/>
              </a:rPr>
              <a:t>CPU-controlled SIMT GPU with AXI4-Lite control and shared memory</a:t>
            </a:r>
            <a:endParaRPr sz="1300">
              <a:solidFill>
                <a:srgbClr val="64748B"/>
              </a:solidFill>
              <a:latin typeface="Inter"/>
            </a:endParaRPr>
          </a:p>
        </p:txBody>
      </p:sp>
      <p:sp>
        <p:nvSpPr>
          <p:cNvPr id="262" name="Freeform 262"/>
          <p:cNvSpPr/>
          <p:nvPr/>
        </p:nvSpPr>
        <p:spPr>
          <a:xfrm>
            <a:off x="2159000" y="1435100"/>
            <a:ext cx="2794000" cy="850900"/>
          </a:xfrm>
          <a:custGeom>
            <a:avLst/>
            <a:gdLst/>
            <a:ahLst/>
            <a:cxnLst/>
            <a:rect l="l" t="t" r="r" b="b"/>
            <a:pathLst>
              <a:path w="100000" h="30455" fill="none">
                <a:moveTo>
                  <a:pt x="100000" y="0"/>
                </a:moveTo>
                <a:lnTo>
                  <a:pt x="0" y="0"/>
                </a:lnTo>
                <a:lnTo>
                  <a:pt x="0" y="30455"/>
                </a:lnTo>
              </a:path>
            </a:pathLst>
          </a:custGeom>
          <a:ln w="25400">
            <a:solidFill>
              <a:srgbClr val="64748B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3" name="Freeform 263"/>
          <p:cNvSpPr/>
          <p:nvPr/>
        </p:nvSpPr>
        <p:spPr>
          <a:xfrm>
            <a:off x="7239000" y="1435100"/>
            <a:ext cx="3810000" cy="596900"/>
          </a:xfrm>
          <a:custGeom>
            <a:avLst/>
            <a:gdLst/>
            <a:ahLst/>
            <a:cxnLst/>
            <a:rect l="l" t="t" r="r" b="b"/>
            <a:pathLst>
              <a:path w="100000" h="15667" fill="none">
                <a:moveTo>
                  <a:pt x="0" y="0"/>
                </a:moveTo>
                <a:lnTo>
                  <a:pt x="100000" y="0"/>
                </a:lnTo>
                <a:lnTo>
                  <a:pt x="100000" y="15667"/>
                </a:lnTo>
              </a:path>
            </a:pathLst>
          </a:custGeom>
          <a:ln w="25400">
            <a:solidFill>
              <a:srgbClr val="64748B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4" name="Freeform 264"/>
          <p:cNvSpPr/>
          <p:nvPr/>
        </p:nvSpPr>
        <p:spPr>
          <a:xfrm>
            <a:off x="3746500" y="3175000"/>
            <a:ext cx="889000" cy="12700"/>
          </a:xfrm>
          <a:custGeom>
            <a:avLst/>
            <a:gdLst/>
            <a:ahLst/>
            <a:cxnLst/>
            <a:rect l="l" t="t" r="r" b="b"/>
            <a:pathLst>
              <a:path w="100000" h="1429" fill="none">
                <a:moveTo>
                  <a:pt x="0" y="0"/>
                </a:moveTo>
                <a:lnTo>
                  <a:pt x="100000" y="0"/>
                </a:lnTo>
              </a:path>
            </a:pathLst>
          </a:custGeom>
          <a:ln w="38100">
            <a:solidFill>
              <a:srgbClr val="2563EB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5" name="Freeform 265"/>
          <p:cNvSpPr/>
          <p:nvPr/>
        </p:nvSpPr>
        <p:spPr>
          <a:xfrm>
            <a:off x="7556500" y="3175000"/>
            <a:ext cx="571500" cy="12700"/>
          </a:xfrm>
          <a:custGeom>
            <a:avLst/>
            <a:gdLst/>
            <a:ahLst/>
            <a:cxnLst/>
            <a:rect l="l" t="t" r="r" b="b"/>
            <a:pathLst>
              <a:path w="100000" h="2222" fill="none">
                <a:moveTo>
                  <a:pt x="0" y="0"/>
                </a:moveTo>
                <a:lnTo>
                  <a:pt x="100000" y="0"/>
                </a:lnTo>
              </a:path>
            </a:pathLst>
          </a:custGeom>
          <a:ln w="38100">
            <a:solidFill>
              <a:srgbClr val="9333EA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6" name="Freeform 266"/>
          <p:cNvSpPr/>
          <p:nvPr/>
        </p:nvSpPr>
        <p:spPr>
          <a:xfrm>
            <a:off x="6096000" y="3873500"/>
            <a:ext cx="12700" cy="825500"/>
          </a:xfrm>
          <a:custGeom>
            <a:avLst/>
            <a:gdLst/>
            <a:ahLst/>
            <a:cxnLst/>
            <a:rect l="l" t="t" r="r" b="b"/>
            <a:pathLst>
              <a:path w="1538" h="100000" fill="none">
                <a:moveTo>
                  <a:pt x="0" y="0"/>
                </a:moveTo>
                <a:lnTo>
                  <a:pt x="0" y="100000"/>
                </a:lnTo>
              </a:path>
            </a:pathLst>
          </a:custGeom>
          <a:ln w="38100">
            <a:solidFill>
              <a:srgbClr val="2563EB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7" name="Freeform 267"/>
          <p:cNvSpPr/>
          <p:nvPr/>
        </p:nvSpPr>
        <p:spPr>
          <a:xfrm>
            <a:off x="9779000" y="2794000"/>
            <a:ext cx="317500" cy="12700"/>
          </a:xfrm>
          <a:custGeom>
            <a:avLst/>
            <a:gdLst/>
            <a:ahLst/>
            <a:cxnLst/>
            <a:rect l="l" t="t" r="r" b="b"/>
            <a:pathLst>
              <a:path w="100000" h="4000" fill="none">
                <a:moveTo>
                  <a:pt x="0" y="0"/>
                </a:moveTo>
                <a:lnTo>
                  <a:pt x="100000" y="0"/>
                </a:lnTo>
              </a:path>
            </a:pathLst>
          </a:custGeom>
          <a:ln w="38100">
            <a:solidFill>
              <a:srgbClr val="9333EA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8" name="Freeform 268"/>
          <p:cNvSpPr/>
          <p:nvPr/>
        </p:nvSpPr>
        <p:spPr>
          <a:xfrm>
            <a:off x="8001000" y="3810000"/>
            <a:ext cx="2095500" cy="1651000"/>
          </a:xfrm>
          <a:custGeom>
            <a:avLst/>
            <a:gdLst/>
            <a:ahLst/>
            <a:cxnLst/>
            <a:rect l="l" t="t" r="r" b="b"/>
            <a:pathLst>
              <a:path w="100000" h="78788" fill="none">
                <a:moveTo>
                  <a:pt x="0" y="78788"/>
                </a:moveTo>
                <a:lnTo>
                  <a:pt x="30303" y="78788"/>
                </a:lnTo>
                <a:lnTo>
                  <a:pt x="30303" y="0"/>
                </a:lnTo>
                <a:lnTo>
                  <a:pt x="100000" y="0"/>
                </a:lnTo>
              </a:path>
            </a:pathLst>
          </a:custGeom>
          <a:ln w="50800">
            <a:solidFill>
              <a:srgbClr val="16A34A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9" name="Freeform 269"/>
          <p:cNvSpPr/>
          <p:nvPr/>
        </p:nvSpPr>
        <p:spPr>
          <a:xfrm>
            <a:off x="10477500" y="4064000"/>
            <a:ext cx="12700" cy="635000"/>
          </a:xfrm>
          <a:custGeom>
            <a:avLst/>
            <a:gdLst/>
            <a:ahLst/>
            <a:cxnLst/>
            <a:rect l="l" t="t" r="r" b="b"/>
            <a:pathLst>
              <a:path w="2000" h="100000" fill="none">
                <a:moveTo>
                  <a:pt x="0" y="100000"/>
                </a:moveTo>
                <a:lnTo>
                  <a:pt x="0" y="0"/>
                </a:lnTo>
              </a:path>
            </a:pathLst>
          </a:custGeom>
          <a:ln w="25400">
            <a:solidFill>
              <a:srgbClr val="64748B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70" name="Rectangle 11"/>
          <p:cNvSpPr/>
          <p:nvPr/>
        </p:nvSpPr>
        <p:spPr>
          <a:xfrm>
            <a:off x="4953000" y="1143000"/>
            <a:ext cx="2286000" cy="5842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6474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271" name="TextBox 12"/>
          <p:cNvSpPr txBox="1"/>
          <p:nvPr/>
        </p:nvSpPr>
        <p:spPr>
          <a:xfrm>
            <a:off x="5080000" y="1219200"/>
            <a:ext cx="2032000" cy="275838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334155"/>
                </a:solidFill>
                <a:latin typeface="Inter"/>
              </a:rPr>
              <a:t>CLOCK + RESET</a:t>
            </a:r>
            <a:endParaRPr sz="1200" b="1">
              <a:solidFill>
                <a:srgbClr val="334155"/>
              </a:solidFill>
              <a:latin typeface="Inter"/>
            </a:endParaRPr>
          </a:p>
        </p:txBody>
      </p:sp>
      <p:sp>
        <p:nvSpPr>
          <p:cNvPr id="272" name="TextBox 13"/>
          <p:cNvSpPr txBox="1"/>
          <p:nvPr/>
        </p:nvSpPr>
        <p:spPr>
          <a:xfrm>
            <a:off x="5080000" y="1460500"/>
            <a:ext cx="2032000" cy="229739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sz="900">
                <a:solidFill>
                  <a:srgbClr val="64748B"/>
                </a:solidFill>
                <a:latin typeface="Inter"/>
              </a:rPr>
              <a:t>Single shared domain</a:t>
            </a:r>
            <a:endParaRPr sz="900">
              <a:solidFill>
                <a:srgbClr val="64748B"/>
              </a:solidFill>
              <a:latin typeface="Inter"/>
            </a:endParaRPr>
          </a:p>
        </p:txBody>
      </p:sp>
      <p:sp>
        <p:nvSpPr>
          <p:cNvPr id="273" name="TextBox 14"/>
          <p:cNvSpPr txBox="1"/>
          <p:nvPr/>
        </p:nvSpPr>
        <p:spPr>
          <a:xfrm>
            <a:off x="635000" y="1905000"/>
            <a:ext cx="1270000" cy="245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4A3B8"/>
                </a:solidFill>
                <a:latin typeface="Inter"/>
              </a:rPr>
              <a:t>CPU SIDE</a:t>
            </a:r>
            <a:endParaRPr sz="1000" b="1">
              <a:solidFill>
                <a:srgbClr val="94A3B8"/>
              </a:solidFill>
              <a:latin typeface="Inter"/>
            </a:endParaRPr>
          </a:p>
        </p:txBody>
      </p:sp>
      <p:sp>
        <p:nvSpPr>
          <p:cNvPr id="274" name="TextBox 15"/>
          <p:cNvSpPr txBox="1"/>
          <p:nvPr/>
        </p:nvSpPr>
        <p:spPr>
          <a:xfrm>
            <a:off x="10731500" y="1651000"/>
            <a:ext cx="1270000" cy="245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Inter"/>
              </a:rPr>
              <a:t>GPU SIDE</a:t>
            </a:r>
            <a:endParaRPr sz="1000" b="1">
              <a:solidFill>
                <a:srgbClr val="94A3B8"/>
              </a:solidFill>
              <a:latin typeface="Inter"/>
            </a:endParaRPr>
          </a:p>
        </p:txBody>
      </p:sp>
      <p:sp>
        <p:nvSpPr>
          <p:cNvPr id="275" name="Rectangle 16"/>
          <p:cNvSpPr/>
          <p:nvPr/>
        </p:nvSpPr>
        <p:spPr>
          <a:xfrm>
            <a:off x="571500" y="2286000"/>
            <a:ext cx="3175000" cy="1778000"/>
          </a:xfrm>
          <a:prstGeom prst="roundRect">
            <a:avLst/>
          </a:prstGeom>
          <a:solidFill>
            <a:srgbClr val="DBEAFE"/>
          </a:solidFill>
          <a:ln w="31750">
            <a:solidFill>
              <a:srgbClr val="256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276" name="TextBox 17"/>
          <p:cNvSpPr txBox="1"/>
          <p:nvPr/>
        </p:nvSpPr>
        <p:spPr>
          <a:xfrm>
            <a:off x="762000" y="2463800"/>
            <a:ext cx="2794000" cy="35267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E3A8A"/>
                </a:solidFill>
                <a:latin typeface="Inter"/>
              </a:rPr>
              <a:t>RISC-V CPU</a:t>
            </a:r>
            <a:endParaRPr sz="1700" b="1">
              <a:solidFill>
                <a:srgbClr val="1E3A8A"/>
              </a:solidFill>
              <a:latin typeface="Inter"/>
            </a:endParaRPr>
          </a:p>
        </p:txBody>
      </p:sp>
      <p:sp>
        <p:nvSpPr>
          <p:cNvPr id="277" name="TextBox 18"/>
          <p:cNvSpPr txBox="1"/>
          <p:nvPr/>
        </p:nvSpPr>
        <p:spPr>
          <a:xfrm>
            <a:off x="762000" y="2844800"/>
            <a:ext cx="2794000" cy="798299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sz="1150">
                <a:solidFill>
                  <a:srgbClr val="1E3A8A"/>
                </a:solidFill>
                <a:latin typeface="Inter"/>
              </a:rPr>
              <a:t>Multi-cycle RV32I</a:t>
            </a:r>
            <a:endParaRPr sz="1150">
              <a:solidFill>
                <a:srgbClr val="1E3A8A"/>
              </a:solidFill>
              <a:latin typeface="Inter"/>
            </a:endParaRPr>
          </a:p>
          <a:p>
            <a:pPr algn="ctr"/>
            <a:r>
              <a:rPr sz="1150">
                <a:solidFill>
                  <a:srgbClr val="1E3A8A"/>
                </a:solidFill>
                <a:latin typeface="Inter"/>
              </a:rPr>
              <a:t>Private instruction TCM</a:t>
            </a:r>
            <a:endParaRPr sz="1150">
              <a:solidFill>
                <a:srgbClr val="1E3A8A"/>
              </a:solidFill>
              <a:latin typeface="Inter"/>
            </a:endParaRPr>
          </a:p>
          <a:p>
            <a:pPr algn="ctr"/>
            <a:r>
              <a:rPr sz="1150">
                <a:solidFill>
                  <a:srgbClr val="1E3A8A"/>
                </a:solidFill>
                <a:latin typeface="Inter"/>
              </a:rPr>
              <a:t>ADDI | LW | SW</a:t>
            </a:r>
            <a:endParaRPr sz="1150">
              <a:solidFill>
                <a:srgbClr val="1E3A8A"/>
              </a:solidFill>
              <a:latin typeface="Inter"/>
            </a:endParaRPr>
          </a:p>
          <a:p>
            <a:pPr algn="ctr"/>
            <a:r>
              <a:rPr sz="1150">
                <a:solidFill>
                  <a:srgbClr val="1E3A8A"/>
                </a:solidFill>
                <a:latin typeface="Inter"/>
              </a:rPr>
              <a:t>BEQ | BNE | JAL</a:t>
            </a:r>
            <a:endParaRPr sz="1150">
              <a:solidFill>
                <a:srgbClr val="1E3A8A"/>
              </a:solidFill>
              <a:latin typeface="Inter"/>
            </a:endParaRPr>
          </a:p>
        </p:txBody>
      </p:sp>
      <p:sp>
        <p:nvSpPr>
          <p:cNvPr id="278" name="Rectangle 19"/>
          <p:cNvSpPr/>
          <p:nvPr/>
        </p:nvSpPr>
        <p:spPr>
          <a:xfrm>
            <a:off x="4635500" y="2476500"/>
            <a:ext cx="2921000" cy="1397000"/>
          </a:xfrm>
          <a:prstGeom prst="roundRect">
            <a:avLst/>
          </a:prstGeom>
          <a:solidFill>
            <a:srgbClr val="FEF3C7"/>
          </a:solidFill>
          <a:ln w="31750">
            <a:solidFill>
              <a:srgbClr val="D977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279" name="TextBox 20"/>
          <p:cNvSpPr txBox="1"/>
          <p:nvPr/>
        </p:nvSpPr>
        <p:spPr>
          <a:xfrm>
            <a:off x="4826000" y="2641600"/>
            <a:ext cx="2540000" cy="33730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8350F"/>
                </a:solidFill>
                <a:latin typeface="Inter"/>
              </a:rPr>
              <a:t>AXI4-Lite Interconnect</a:t>
            </a:r>
            <a:endParaRPr sz="1600" b="1">
              <a:solidFill>
                <a:srgbClr val="78350F"/>
              </a:solidFill>
              <a:latin typeface="Inter"/>
            </a:endParaRPr>
          </a:p>
        </p:txBody>
      </p:sp>
      <p:sp>
        <p:nvSpPr>
          <p:cNvPr id="280" name="TextBox 21"/>
          <p:cNvSpPr txBox="1"/>
          <p:nvPr/>
        </p:nvSpPr>
        <p:spPr>
          <a:xfrm>
            <a:off x="4826000" y="3048000"/>
            <a:ext cx="2540000" cy="62158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sz="1150">
                <a:solidFill>
                  <a:srgbClr val="78350F"/>
                </a:solidFill>
                <a:latin typeface="Inter"/>
              </a:rPr>
              <a:t>32-bit control + data</a:t>
            </a:r>
            <a:endParaRPr sz="1150">
              <a:solidFill>
                <a:srgbClr val="78350F"/>
              </a:solidFill>
              <a:latin typeface="Inter"/>
            </a:endParaRPr>
          </a:p>
          <a:p>
            <a:pPr algn="ctr"/>
            <a:r>
              <a:rPr sz="1150">
                <a:solidFill>
                  <a:srgbClr val="78350F"/>
                </a:solidFill>
                <a:latin typeface="Inter"/>
              </a:rPr>
              <a:t>Round-robin arbitration</a:t>
            </a:r>
            <a:endParaRPr sz="1150">
              <a:solidFill>
                <a:srgbClr val="78350F"/>
              </a:solidFill>
              <a:latin typeface="Inter"/>
            </a:endParaRPr>
          </a:p>
          <a:p>
            <a:pPr algn="ctr"/>
            <a:r>
              <a:rPr sz="1150">
                <a:solidFill>
                  <a:srgbClr val="78350F"/>
                </a:solidFill>
                <a:latin typeface="Inter"/>
              </a:rPr>
              <a:t>Address decode</a:t>
            </a:r>
            <a:endParaRPr sz="1150">
              <a:solidFill>
                <a:srgbClr val="78350F"/>
              </a:solidFill>
              <a:latin typeface="Inter"/>
            </a:endParaRPr>
          </a:p>
        </p:txBody>
      </p:sp>
      <p:sp>
        <p:nvSpPr>
          <p:cNvPr id="281" name="Rectangle 22"/>
          <p:cNvSpPr/>
          <p:nvPr/>
        </p:nvSpPr>
        <p:spPr>
          <a:xfrm>
            <a:off x="8128000" y="2476500"/>
            <a:ext cx="1651000" cy="1397000"/>
          </a:xfrm>
          <a:prstGeom prst="roundRect">
            <a:avLst/>
          </a:prstGeom>
          <a:solidFill>
            <a:srgbClr val="F3E8FF"/>
          </a:solidFill>
          <a:ln w="25400">
            <a:solidFill>
              <a:srgbClr val="9333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282" name="TextBox 23"/>
          <p:cNvSpPr txBox="1"/>
          <p:nvPr/>
        </p:nvSpPr>
        <p:spPr>
          <a:xfrm>
            <a:off x="8255000" y="2641600"/>
            <a:ext cx="1397000" cy="30657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581C87"/>
                </a:solidFill>
                <a:latin typeface="Inter"/>
              </a:rPr>
              <a:t>GPU MMIO</a:t>
            </a:r>
            <a:endParaRPr sz="1400" b="1">
              <a:solidFill>
                <a:srgbClr val="581C87"/>
              </a:solidFill>
              <a:latin typeface="Inter"/>
            </a:endParaRPr>
          </a:p>
        </p:txBody>
      </p:sp>
      <p:sp>
        <p:nvSpPr>
          <p:cNvPr id="283" name="TextBox 24"/>
          <p:cNvSpPr txBox="1"/>
          <p:nvPr/>
        </p:nvSpPr>
        <p:spPr>
          <a:xfrm>
            <a:off x="8255000" y="3009900"/>
            <a:ext cx="1397000" cy="57548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sz="1050">
                <a:solidFill>
                  <a:srgbClr val="581C87"/>
                </a:solidFill>
                <a:latin typeface="Inter"/>
              </a:rPr>
              <a:t>CTRL | STATUS</a:t>
            </a:r>
            <a:endParaRPr sz="1050">
              <a:solidFill>
                <a:srgbClr val="581C87"/>
              </a:solidFill>
              <a:latin typeface="Inter"/>
            </a:endParaRPr>
          </a:p>
          <a:p>
            <a:pPr algn="ctr"/>
            <a:r>
              <a:rPr sz="1050">
                <a:solidFill>
                  <a:srgbClr val="581C87"/>
                </a:solidFill>
                <a:latin typeface="Inter"/>
              </a:rPr>
              <a:t>THREADS | SRC</a:t>
            </a:r>
            <a:endParaRPr sz="1050">
              <a:solidFill>
                <a:srgbClr val="581C87"/>
              </a:solidFill>
              <a:latin typeface="Inter"/>
            </a:endParaRPr>
          </a:p>
          <a:p>
            <a:pPr algn="ctr"/>
            <a:r>
              <a:rPr sz="1050">
                <a:solidFill>
                  <a:srgbClr val="581C87"/>
                </a:solidFill>
                <a:latin typeface="Inter"/>
              </a:rPr>
              <a:t>DST | PROG_BASE</a:t>
            </a:r>
            <a:endParaRPr sz="1050">
              <a:solidFill>
                <a:srgbClr val="581C87"/>
              </a:solidFill>
              <a:latin typeface="Inter"/>
            </a:endParaRPr>
          </a:p>
        </p:txBody>
      </p:sp>
      <p:sp>
        <p:nvSpPr>
          <p:cNvPr id="284" name="Rectangle 25"/>
          <p:cNvSpPr/>
          <p:nvPr/>
        </p:nvSpPr>
        <p:spPr>
          <a:xfrm>
            <a:off x="10096500" y="2032000"/>
            <a:ext cx="1905000" cy="2032000"/>
          </a:xfrm>
          <a:prstGeom prst="roundRect">
            <a:avLst/>
          </a:prstGeom>
          <a:solidFill>
            <a:srgbClr val="DCFCE7"/>
          </a:solidFill>
          <a:ln w="31750">
            <a:solidFill>
              <a:srgbClr val="16A3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285" name="TextBox 26"/>
          <p:cNvSpPr txBox="1"/>
          <p:nvPr/>
        </p:nvSpPr>
        <p:spPr>
          <a:xfrm>
            <a:off x="10287000" y="2247900"/>
            <a:ext cx="1524000" cy="35267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4532D"/>
                </a:solidFill>
                <a:latin typeface="Inter"/>
              </a:rPr>
              <a:t>SIMT GPU</a:t>
            </a:r>
            <a:endParaRPr sz="1700" b="1">
              <a:solidFill>
                <a:srgbClr val="14532D"/>
              </a:solidFill>
              <a:latin typeface="Inter"/>
            </a:endParaRPr>
          </a:p>
        </p:txBody>
      </p:sp>
      <p:sp>
        <p:nvSpPr>
          <p:cNvPr id="286" name="TextBox 27"/>
          <p:cNvSpPr txBox="1"/>
          <p:nvPr/>
        </p:nvSpPr>
        <p:spPr>
          <a:xfrm>
            <a:off x="10223500" y="2667000"/>
            <a:ext cx="1651000" cy="76756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sz="1100">
                <a:solidFill>
                  <a:srgbClr val="14532D"/>
                </a:solidFill>
                <a:latin typeface="Inter"/>
              </a:rPr>
              <a:t>2 warps x 4 lanes</a:t>
            </a:r>
            <a:endParaRPr sz="1100">
              <a:solidFill>
                <a:srgbClr val="14532D"/>
              </a:solidFill>
              <a:latin typeface="Inter"/>
            </a:endParaRPr>
          </a:p>
          <a:p>
            <a:pPr algn="ctr"/>
            <a:r>
              <a:rPr sz="1100">
                <a:solidFill>
                  <a:srgbClr val="14532D"/>
                </a:solidFill>
                <a:latin typeface="Inter"/>
              </a:rPr>
              <a:t>8 physical threads</a:t>
            </a:r>
            <a:endParaRPr sz="1100">
              <a:solidFill>
                <a:srgbClr val="14532D"/>
              </a:solidFill>
              <a:latin typeface="Inter"/>
            </a:endParaRPr>
          </a:p>
          <a:p>
            <a:pPr algn="ctr"/>
            <a:r>
              <a:rPr sz="1100">
                <a:solidFill>
                  <a:srgbClr val="14532D"/>
                </a:solidFill>
                <a:latin typeface="Inter"/>
              </a:rPr>
              <a:t>DCR | dispatcher</a:t>
            </a:r>
            <a:endParaRPr sz="1100">
              <a:solidFill>
                <a:srgbClr val="14532D"/>
              </a:solidFill>
              <a:latin typeface="Inter"/>
            </a:endParaRPr>
          </a:p>
          <a:p>
            <a:pPr algn="ctr"/>
            <a:r>
              <a:rPr sz="1100">
                <a:solidFill>
                  <a:srgbClr val="14532D"/>
                </a:solidFill>
                <a:latin typeface="Inter"/>
              </a:rPr>
              <a:t>16-bit custom ISA</a:t>
            </a:r>
            <a:endParaRPr sz="1100">
              <a:solidFill>
                <a:srgbClr val="14532D"/>
              </a:solidFill>
              <a:latin typeface="Inter"/>
            </a:endParaRPr>
          </a:p>
        </p:txBody>
      </p:sp>
      <p:sp>
        <p:nvSpPr>
          <p:cNvPr id="287" name="Rectangle 28"/>
          <p:cNvSpPr/>
          <p:nvPr/>
        </p:nvSpPr>
        <p:spPr>
          <a:xfrm>
            <a:off x="4191000" y="4699000"/>
            <a:ext cx="3810000" cy="1524000"/>
          </a:xfrm>
          <a:prstGeom prst="roundRect">
            <a:avLst/>
          </a:prstGeom>
          <a:solidFill>
            <a:srgbClr val="E0E7FF"/>
          </a:solidFill>
          <a:ln w="31750">
            <a:solidFill>
              <a:srgbClr val="4F46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288" name="TextBox 29"/>
          <p:cNvSpPr txBox="1"/>
          <p:nvPr/>
        </p:nvSpPr>
        <p:spPr>
          <a:xfrm>
            <a:off x="4381500" y="4876800"/>
            <a:ext cx="3429000" cy="35267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12E81"/>
                </a:solidFill>
                <a:latin typeface="Inter"/>
              </a:rPr>
              <a:t>Shared RAM</a:t>
            </a:r>
            <a:endParaRPr sz="1700" b="1">
              <a:solidFill>
                <a:srgbClr val="312E81"/>
              </a:solidFill>
              <a:latin typeface="Inter"/>
            </a:endParaRPr>
          </a:p>
        </p:txBody>
      </p:sp>
      <p:sp>
        <p:nvSpPr>
          <p:cNvPr id="289" name="TextBox 30"/>
          <p:cNvSpPr txBox="1"/>
          <p:nvPr/>
        </p:nvSpPr>
        <p:spPr>
          <a:xfrm>
            <a:off x="4381500" y="5257800"/>
            <a:ext cx="3429000" cy="62158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sz="1150">
                <a:solidFill>
                  <a:srgbClr val="312E81"/>
                </a:solidFill>
                <a:latin typeface="Inter"/>
              </a:rPr>
              <a:t>32K x 32 dual-port | host + pixel ports</a:t>
            </a:r>
            <a:endParaRPr sz="1150">
              <a:solidFill>
                <a:srgbClr val="312E81"/>
              </a:solidFill>
              <a:latin typeface="Inter"/>
            </a:endParaRPr>
          </a:p>
          <a:p>
            <a:pPr algn="ctr"/>
            <a:r>
              <a:rPr sz="1150">
                <a:solidFill>
                  <a:srgbClr val="312E81"/>
                </a:solidFill>
                <a:latin typeface="Inter"/>
              </a:rPr>
              <a:t>Framebuffer A (src) 0x2000</a:t>
            </a:r>
            <a:endParaRPr sz="1150">
              <a:solidFill>
                <a:srgbClr val="312E81"/>
              </a:solidFill>
              <a:latin typeface="Inter"/>
            </a:endParaRPr>
          </a:p>
          <a:p>
            <a:pPr algn="ctr"/>
            <a:r>
              <a:rPr sz="1150">
                <a:solidFill>
                  <a:srgbClr val="312E81"/>
                </a:solidFill>
                <a:latin typeface="Inter"/>
              </a:rPr>
              <a:t>Framebuffer B (dst) 0x6000</a:t>
            </a:r>
            <a:endParaRPr sz="1150">
              <a:solidFill>
                <a:srgbClr val="312E81"/>
              </a:solidFill>
              <a:latin typeface="Inter"/>
            </a:endParaRPr>
          </a:p>
        </p:txBody>
      </p:sp>
      <p:sp>
        <p:nvSpPr>
          <p:cNvPr id="290" name="Rectangle 31"/>
          <p:cNvSpPr/>
          <p:nvPr/>
        </p:nvSpPr>
        <p:spPr>
          <a:xfrm>
            <a:off x="9271000" y="4699000"/>
            <a:ext cx="2476500" cy="1397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6474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291" name="TextBox 32"/>
          <p:cNvSpPr txBox="1"/>
          <p:nvPr/>
        </p:nvSpPr>
        <p:spPr>
          <a:xfrm>
            <a:off x="9398000" y="4889500"/>
            <a:ext cx="2222500" cy="30657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334155"/>
                </a:solidFill>
                <a:latin typeface="Inter"/>
              </a:rPr>
              <a:t>GPU Program Memory</a:t>
            </a:r>
            <a:endParaRPr sz="1400" b="1">
              <a:solidFill>
                <a:srgbClr val="334155"/>
              </a:solidFill>
              <a:latin typeface="Inter"/>
            </a:endParaRPr>
          </a:p>
        </p:txBody>
      </p:sp>
      <p:sp>
        <p:nvSpPr>
          <p:cNvPr id="292" name="TextBox 33"/>
          <p:cNvSpPr txBox="1"/>
          <p:nvPr/>
        </p:nvSpPr>
        <p:spPr>
          <a:xfrm>
            <a:off x="9398000" y="5270500"/>
            <a:ext cx="2222500" cy="59436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sz="1100">
                <a:solidFill>
                  <a:srgbClr val="334155"/>
                </a:solidFill>
                <a:latin typeface="Inter"/>
              </a:rPr>
              <a:t>1024 x 16-bit</a:t>
            </a:r>
          </a:p>
          <a:p>
            <a:pPr algn="ctr"/>
            <a:r>
              <a:rPr sz="1100">
                <a:solidFill>
                  <a:srgbClr val="334155"/>
                </a:solidFill>
                <a:latin typeface="Inter"/>
              </a:rPr>
              <a:t>Blur kernel</a:t>
            </a:r>
          </a:p>
          <a:p>
            <a:pPr algn="ctr"/>
            <a:r>
              <a:rPr sz="1100">
                <a:solidFill>
                  <a:srgbClr val="334155"/>
                </a:solidFill>
                <a:latin typeface="Inter"/>
              </a:rPr>
              <a:t>Brighten kernel</a:t>
            </a:r>
          </a:p>
        </p:txBody>
      </p:sp>
      <p:sp>
        <p:nvSpPr>
          <p:cNvPr id="293" name="TextBox 34"/>
          <p:cNvSpPr txBox="1"/>
          <p:nvPr/>
        </p:nvSpPr>
        <p:spPr>
          <a:xfrm>
            <a:off x="3746500" y="2717800"/>
            <a:ext cx="863600" cy="482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1D4ED8"/>
                </a:solidFill>
                <a:latin typeface="Inter"/>
              </a:rPr>
              <a:t>CPU AXI master</a:t>
            </a:r>
            <a:endParaRPr sz="900">
              <a:solidFill>
                <a:srgbClr val="1D4ED8"/>
              </a:solidFill>
              <a:latin typeface="Inter"/>
            </a:endParaRPr>
          </a:p>
        </p:txBody>
      </p:sp>
      <p:sp>
        <p:nvSpPr>
          <p:cNvPr id="294" name="TextBox 35"/>
          <p:cNvSpPr txBox="1"/>
          <p:nvPr/>
        </p:nvSpPr>
        <p:spPr>
          <a:xfrm>
            <a:off x="7556500" y="2717800"/>
            <a:ext cx="698500" cy="482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7E22CE"/>
                </a:solidFill>
                <a:latin typeface="Inter"/>
              </a:rPr>
              <a:t>AXI MMIO</a:t>
            </a:r>
            <a:endParaRPr sz="900">
              <a:solidFill>
                <a:srgbClr val="7E22CE"/>
              </a:solidFill>
              <a:latin typeface="Inter"/>
            </a:endParaRPr>
          </a:p>
        </p:txBody>
      </p:sp>
      <p:sp>
        <p:nvSpPr>
          <p:cNvPr id="295" name="TextBox 36"/>
          <p:cNvSpPr txBox="1"/>
          <p:nvPr/>
        </p:nvSpPr>
        <p:spPr>
          <a:xfrm>
            <a:off x="6096000" y="4152900"/>
            <a:ext cx="1524000" cy="2297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1D4ED8"/>
                </a:solidFill>
                <a:latin typeface="Inter"/>
              </a:rPr>
              <a:t>AXI RAM host port</a:t>
            </a:r>
            <a:endParaRPr sz="900">
              <a:solidFill>
                <a:srgbClr val="1D4ED8"/>
              </a:solidFill>
              <a:latin typeface="Inter"/>
            </a:endParaRPr>
          </a:p>
        </p:txBody>
      </p:sp>
      <p:sp>
        <p:nvSpPr>
          <p:cNvPr id="296" name="TextBox 37"/>
          <p:cNvSpPr txBox="1"/>
          <p:nvPr/>
        </p:nvSpPr>
        <p:spPr>
          <a:xfrm>
            <a:off x="9525000" y="1841500"/>
            <a:ext cx="1016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7E22CE"/>
                </a:solidFill>
                <a:latin typeface="Inter"/>
              </a:rPr>
              <a:t>GPU control</a:t>
            </a:r>
            <a:endParaRPr sz="900">
              <a:solidFill>
                <a:srgbClr val="7E22CE"/>
              </a:solidFill>
              <a:latin typeface="Inter"/>
            </a:endParaRPr>
          </a:p>
        </p:txBody>
      </p:sp>
      <p:sp>
        <p:nvSpPr>
          <p:cNvPr id="297" name="TextBox 38"/>
          <p:cNvSpPr txBox="1"/>
          <p:nvPr/>
        </p:nvSpPr>
        <p:spPr>
          <a:xfrm>
            <a:off x="7937500" y="4089400"/>
            <a:ext cx="1587500" cy="381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15803D"/>
                </a:solidFill>
                <a:latin typeface="Inter"/>
              </a:rPr>
              <a:t>GPU pixel bus</a:t>
            </a:r>
            <a:endParaRPr sz="900">
              <a:solidFill>
                <a:srgbClr val="15803D"/>
              </a:solidFill>
              <a:latin typeface="Inter"/>
            </a:endParaRPr>
          </a:p>
          <a:p>
            <a:pPr algn="ctr"/>
            <a:r>
              <a:rPr sz="900">
                <a:solidFill>
                  <a:srgbClr val="15803D"/>
                </a:solidFill>
                <a:latin typeface="Inter"/>
              </a:rPr>
              <a:t>(word addressed)</a:t>
            </a:r>
            <a:endParaRPr sz="900">
              <a:solidFill>
                <a:srgbClr val="15803D"/>
              </a:solidFill>
              <a:latin typeface="Inter"/>
            </a:endParaRPr>
          </a:p>
        </p:txBody>
      </p:sp>
      <p:sp>
        <p:nvSpPr>
          <p:cNvPr id="298" name="TextBox 39"/>
          <p:cNvSpPr txBox="1"/>
          <p:nvPr/>
        </p:nvSpPr>
        <p:spPr>
          <a:xfrm>
            <a:off x="10566400" y="4343400"/>
            <a:ext cx="1143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475569"/>
                </a:solidFill>
                <a:latin typeface="Inter"/>
              </a:rPr>
              <a:t>Instruction fetch</a:t>
            </a:r>
            <a:endParaRPr sz="900">
              <a:solidFill>
                <a:srgbClr val="475569"/>
              </a:solidFill>
              <a:latin typeface="Inter"/>
            </a:endParaRPr>
          </a:p>
        </p:txBody>
      </p:sp>
      <p:sp>
        <p:nvSpPr>
          <p:cNvPr id="299" name="TextBox 40"/>
          <p:cNvSpPr txBox="1"/>
          <p:nvPr/>
        </p:nvSpPr>
        <p:spPr>
          <a:xfrm>
            <a:off x="508000" y="6451600"/>
            <a:ext cx="11176000" cy="23742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sz="950">
                <a:solidFill>
                  <a:srgbClr val="64748B"/>
                </a:solidFill>
                <a:latin typeface="Inter"/>
              </a:rPr>
              <a:t>Blue: AXI4-Lite   |   Purple: GPU control   |   Green: pixel data   |   Gray: private fetch and clock</a:t>
            </a:r>
            <a:endParaRPr sz="950">
              <a:solidFill>
                <a:srgbClr val="64748B"/>
              </a:solidFill>
              <a:latin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 xmlns:a="http://schemas.openxmlformats.org/drawingml/2006/main"/>
  <a:extraClrSchemeLst xmlns:a="http://schemas.openxmlformats.org/drawingml/2006/main"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1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